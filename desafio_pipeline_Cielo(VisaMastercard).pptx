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0585" autoAdjust="0"/>
  </p:normalViewPr>
  <p:slideViewPr>
    <p:cSldViewPr snapToGrid="0" snapToObjects="1">
      <p:cViewPr varScale="1">
        <p:scale>
          <a:sx n="44" d="100"/>
          <a:sy n="44" d="100"/>
        </p:scale>
        <p:origin x="171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Planilha_do_Microsoft_Excel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Consumidor Black</c:v>
                </c:pt>
              </c:strCache>
            </c:strRef>
          </c:tx>
          <c:spPr>
            <a:ln w="27940" cap="flat">
              <a:solidFill>
                <a:srgbClr val="FF8A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F8A00"/>
              </a:solidFill>
              <a:ln w="9525" cap="flat">
                <a:solidFill>
                  <a:srgbClr val="FF8A00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À vista</c:v>
                </c:pt>
                <c:pt idx="1">
                  <c:v>2-6</c:v>
                </c:pt>
                <c:pt idx="2">
                  <c:v>6+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2.1</c:v>
                </c:pt>
                <c:pt idx="1">
                  <c:v>2.21</c:v>
                </c:pt>
                <c:pt idx="2">
                  <c:v>2.4900000000000002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Outros</c:v>
                </c:pt>
              </c:strCache>
            </c:strRef>
          </c:tx>
          <c:spPr>
            <a:ln w="27940" cap="flat">
              <a:solidFill>
                <a:srgbClr val="2156D9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56D9"/>
              </a:solidFill>
              <a:ln w="9525" cap="flat">
                <a:solidFill>
                  <a:srgbClr val="2156D9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À vista</c:v>
                </c:pt>
                <c:pt idx="1">
                  <c:v>2-6</c:v>
                </c:pt>
                <c:pt idx="2">
                  <c:v>6+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1.05</c:v>
                </c:pt>
                <c:pt idx="1">
                  <c:v>1.8</c:v>
                </c:pt>
                <c:pt idx="2">
                  <c:v>2.14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Companhias aéreas</c:v>
                </c:pt>
              </c:strCache>
            </c:strRef>
          </c:tx>
          <c:spPr>
            <a:ln w="27940" cap="flat">
              <a:solidFill>
                <a:srgbClr val="16A4A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4A8"/>
              </a:solidFill>
              <a:ln w="9525" cap="flat">
                <a:solidFill>
                  <a:srgbClr val="16A4A8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À vista</c:v>
                </c:pt>
                <c:pt idx="1">
                  <c:v>2-6</c:v>
                </c:pt>
                <c:pt idx="2">
                  <c:v>6+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0.7</c:v>
                </c:pt>
                <c:pt idx="1">
                  <c:v>0.7</c:v>
                </c:pt>
                <c:pt idx="2">
                  <c:v>0.7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50476592"/>
        <c:axId val="450470712"/>
      </c:lineChart>
      <c:catAx>
        <c:axId val="45047659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450470712"/>
        <c:crosses val="autoZero"/>
        <c:auto val="1"/>
        <c:lblAlgn val="ctr"/>
        <c:lblOffset val="100"/>
        <c:noMultiLvlLbl val="1"/>
      </c:catAx>
      <c:valAx>
        <c:axId val="450470712"/>
        <c:scaling>
          <c:orientation val="minMax"/>
          <c:max val="2.8"/>
          <c:min val="0"/>
        </c:scaling>
        <c:delete val="0"/>
        <c:axPos val="l"/>
        <c:majorGridlines>
          <c:spPr>
            <a:ln w="12700" cap="flat">
              <a:solidFill>
                <a:srgbClr val="DDE3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pt-BR"/>
          </a:p>
        </c:txPr>
        <c:crossAx val="4504765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2625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“Esta apresentação propõe uma solução para transformar documentos técnicos de bandeiras em uma base estruturada, consultável e </a:t>
            </a:r>
            <a:r>
              <a:rPr lang="pt-BR" dirty="0" err="1" smtClean="0"/>
              <a:t>auditável</a:t>
            </a:r>
            <a:r>
              <a:rPr lang="pt-BR" dirty="0" smtClean="0"/>
              <a:t>. A ideia central não é fazer apenas OCR ou leitura textual, mas construir um pipeline capaz de interpretar regras tarifárias, preservar evidências e sustentar análises, simulações e decisões estratégicas.”  convertendo linguagem documental em entidades,</a:t>
            </a:r>
            <a:r>
              <a:rPr lang="pt-BR" baseline="0" dirty="0" smtClean="0"/>
              <a:t> atributos e regras</a:t>
            </a:r>
            <a:endParaRPr lang="pt-BR" dirty="0" smtClean="0"/>
          </a:p>
          <a:p>
            <a:endParaRPr lang="pt-BR" b="1" dirty="0" smtClean="0"/>
          </a:p>
          <a:p>
            <a:r>
              <a:rPr lang="pt-BR" b="1" dirty="0" smtClean="0"/>
              <a:t>Como defender: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Aqui você posiciona o problema em nível executivo. Mostra que entendeu que o desafio não é só extrair texto, e sim gerar valor operacional e analítico.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Considerando</a:t>
            </a:r>
            <a:r>
              <a:rPr lang="pt-BR" baseline="0" dirty="0" smtClean="0"/>
              <a:t> </a:t>
            </a:r>
            <a:r>
              <a:rPr lang="pt-BR" dirty="0" smtClean="0"/>
              <a:t>um princípio clássico de engenharia de dados: </a:t>
            </a:r>
            <a:r>
              <a:rPr lang="pt-BR" b="1" dirty="0" smtClean="0"/>
              <a:t>antes de extrair, é preciso entender a natureza do dado</a:t>
            </a:r>
            <a:r>
              <a:rPr lang="pt-BR" dirty="0" smtClean="0"/>
              <a:t>. “Minha leitura principal do problema foi a seguinte: Visa e Mastercard não organizam as regras exatamente da mesma forma. A Visa tende a combinar tarifa-base com ajustes e condições. A Mastercard tende a aparecer mais em estruturas tabulares, com programas e faixas mais explícitas. Então se duas fontes organizam informação de formas diferentes, o método de extração também precisa ser diferente. Por isso, é ideal</a:t>
            </a:r>
            <a:r>
              <a:rPr lang="pt-BR" baseline="0" dirty="0" smtClean="0"/>
              <a:t> que a </a:t>
            </a:r>
            <a:r>
              <a:rPr lang="pt-BR" baseline="0" dirty="0" err="1" smtClean="0"/>
              <a:t>soluçaõ</a:t>
            </a:r>
            <a:r>
              <a:rPr lang="pt-BR" baseline="0" dirty="0" smtClean="0"/>
              <a:t> </a:t>
            </a:r>
            <a:r>
              <a:rPr lang="pt-BR" dirty="0" smtClean="0"/>
              <a:t>seja híbrida: parte determinística, parte semântica, com forte rastreabilidade.”</a:t>
            </a:r>
          </a:p>
          <a:p>
            <a:endParaRPr lang="pt-BR" b="1" dirty="0" smtClean="0"/>
          </a:p>
          <a:p>
            <a:r>
              <a:rPr lang="en-US" dirty="0"/>
              <a:t>
- Uploaded case: Bolsista_Doutor_Bandeiras.pdf
- https://www.mastercard.com.br/content/dam/public/mastercardcom/lac/br/home/visao/quem-somos/intercambio/Interchange%20-%202020-12-22.pdf
- https://www.mastercard.com/us/en/business/support/merchant-interchange-rates.html
- https://www.visa.com.br/content/dam/VCOM/regional/lac/brazil/media-kits/documents/Atualizacao-do-Processo-de-Validacao-e-Monitoramento-de-MCCs.pdf
- https://www.visa.com.br/content/dam/VCOM/regional/lac/brazil/parceiros-visa/documentos/introdu%C3%A7%C3%A3o-do-visa-flexible-rate-b2b-virtual-program.pdf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“Eu identifiquei material suficiente para inferir padrões de organização, categorias e formas de apresentação das regras. Ao mesmo tempo, compreendo</a:t>
            </a:r>
            <a:r>
              <a:rPr lang="pt-BR" baseline="0" dirty="0" smtClean="0"/>
              <a:t> que existe uma limitação</a:t>
            </a:r>
            <a:r>
              <a:rPr lang="pt-BR" dirty="0" smtClean="0"/>
              <a:t>: documentos públicos nem sempre trazem todo o nível de detalhe que uma operação interna possui. Por isso, a proposta técnica foi desenhada para suportar evolução documental, versionamento e novas fontes.” Além</a:t>
            </a:r>
            <a:r>
              <a:rPr lang="pt-BR" baseline="0" dirty="0" smtClean="0"/>
              <a:t> disto ainda temos o prazo limite para entrega da proposta, na qual não poderíamos ficar dependente da análise documental. </a:t>
            </a:r>
            <a:endParaRPr lang="pt-BR" dirty="0" smtClean="0"/>
          </a:p>
          <a:p>
            <a:r>
              <a:rPr lang="pt-BR" b="1" dirty="0" smtClean="0"/>
              <a:t>Como defender: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Esse slide mostra maturidade. Você reconhece restrições sem enfraquecer a solução. Isso passa segurança.</a:t>
            </a:r>
          </a:p>
          <a:p>
            <a:r>
              <a:rPr lang="en-US" dirty="0"/>
              <a:t>
- Uploaded case: Bolsista_Doutor_Bandeiras.pdf
- https://www.mastercard.com.br/content/dam/public/mastercardcom/lac/br/home/visao/quem-somos/intercambio/Interchange%20-%202020-12-22.pdf
- https://www.visa.com.br/content/dam/VCOM/regional/lac/brazil/media-kits/documents/Atualizacao-do-Processo-de-Validacao-e-Monitoramento-de-MCCs.pdf
- https://www.visa.com.br/content/dam/VCOM/regional/lac/brazil/parceiros-visa/documentos/alteracao-nas-taxas-de-intercambio-de-transacoes-nacionais-pre-pagos.pdf
- https://www.visa.com.br/content/dam/VCOM/regional/lac/brazil/parceiros-visa/documentos/introdu%C3%A7%C3%A3o-do-visa-flexible-rate-b2b-virtual-program.pdf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Fala: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“Na prática, identifiquei dois comportamentos documentais. Um modelo mais composicional, em que a regra final depende da combinação entre base, segmento, canal e ajustes. E um modelo mais tabular, em que muitas regras já aparecem </a:t>
            </a:r>
            <a:r>
              <a:rPr lang="pt-BR" dirty="0" err="1" smtClean="0"/>
              <a:t>pré</a:t>
            </a:r>
            <a:r>
              <a:rPr lang="pt-BR" dirty="0" smtClean="0"/>
              <a:t>-combinadas por programa, segmento e faixa.</a:t>
            </a:r>
            <a:r>
              <a:rPr lang="pt-BR" baseline="0" dirty="0" smtClean="0"/>
              <a:t> Ou seja, existem documentos que funcionam como “fórmulas” e outros como “tabelas </a:t>
            </a:r>
            <a:r>
              <a:rPr lang="pt-BR" baseline="0" dirty="0" err="1" smtClean="0"/>
              <a:t>prontas”.</a:t>
            </a:r>
            <a:r>
              <a:rPr lang="pt-BR" dirty="0" err="1" smtClean="0"/>
              <a:t>Essa</a:t>
            </a:r>
            <a:r>
              <a:rPr lang="pt-BR" dirty="0" smtClean="0"/>
              <a:t> diferença muda a estratégia de extração,</a:t>
            </a:r>
            <a:r>
              <a:rPr lang="pt-BR" baseline="0" dirty="0" smtClean="0"/>
              <a:t> pois </a:t>
            </a:r>
            <a:r>
              <a:rPr lang="pt-BR" dirty="0" smtClean="0"/>
              <a:t>Em IA documental, no primeiro caso, o sistema combina condições; no segundo, ele lê linhas e colunas.</a:t>
            </a:r>
          </a:p>
          <a:p>
            <a:r>
              <a:rPr lang="pt-BR" b="1" dirty="0" smtClean="0"/>
              <a:t>Não está propondo tecnologia por moda, mas porque o formato do dado exige.</a:t>
            </a:r>
          </a:p>
          <a:p>
            <a:endParaRPr lang="en-US" dirty="0" smtClean="0"/>
          </a:p>
          <a:p>
            <a:r>
              <a:rPr lang="en-US" dirty="0"/>
              <a:t>
- https://www.mastercard.com.br/content/dam/public/mastercardcom/lac/br/home/visao/quem-somos/intercambio/Interchange%20-%202020-12-22.pdf
- https://www.visa.com.br/content/dam/VCOM/regional/lac/brazil/media-kits/documents/Atualizacao-do-Processo-de-Validacao-e-Monitoramento-de-MCCs.pdf
- https://www.visa.com.br/content/dam/VCOM/regional/lac/brazil/parceiros-visa/documentos/introdu%C3%A7%C3%A3o-do-visa-flexible-rate-b2b-virtual-program.pdf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b="1" dirty="0" smtClean="0"/>
              <a:t>Fala: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“Os exemplos públicos já sugerem que a taxa varia por múltiplas dimensões: produto, segmento, parcelamento e enquadramento. Em alguns casos, o parcelado altera materialmente o resultado; em outros, a taxa permanece estável. Isso reforça que a granularidade correta da base deve capturar contexto, e não apenas uma taxa solta.” Ou seja, temos</a:t>
            </a:r>
            <a:r>
              <a:rPr lang="pt-BR" baseline="0" dirty="0" smtClean="0"/>
              <a:t> uma </a:t>
            </a:r>
            <a:r>
              <a:rPr lang="pt-BR" dirty="0" smtClean="0"/>
              <a:t>multidimensionalidade tarifária.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https://www.mastercard.com.br/content/dam/public/mastercardcom/lac/br/home/visao/quem-somos/intercambio/Interchange%20-%202020-12-22.pdf
- https://www.visa.com.br/content/dam/VCOM/regional/lac/brazil/parceiros-visa/documentos/alteracao-nas-taxas-de-intercambio-de-transacoes-nacionais-pre-pagos.pdf
- https://www.bcb.gov.br/detalhenoticia/633/noticia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Fala: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“Eu estruturei a extração em cinco blocos: documento, produto, comércio, transação e resultado. Documento é essencial para versionamento e auditoria. Produto identifica o universo da regra. Comércio captura MCC, segmento e subsegmento. Transação registra condições operacionais. Resultado representa a consequência tarifária.”</a:t>
            </a:r>
          </a:p>
          <a:p>
            <a:r>
              <a:rPr lang="pt-BR" b="1" dirty="0" smtClean="0"/>
              <a:t>Como defender: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Esse slide é central. Mostra que você traduziu um texto jurídico-operacional em um </a:t>
            </a:r>
            <a:r>
              <a:rPr lang="pt-BR" dirty="0" err="1" smtClean="0"/>
              <a:t>schema</a:t>
            </a:r>
            <a:r>
              <a:rPr lang="pt-BR" dirty="0" smtClean="0"/>
              <a:t> de negócio.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Uploaded case: Bolsista_Doutor_Bandeiras.pdf
- https://www.mastercard.com.br/content/dam/public/mastercardcom/lac/br/home/visao/quem-somos/intercambio/Interchange%20-%202020-12-22.pdf
- https://www.visa.com.br/content/dam/VCOM/regional/lac/brazil/media-kits/documents/Atualizacao-do-Processo-de-Validacao-e-Monitoramento-de-MCCs.pdf
- https://www.visa.com.br/content/dam/VCOM/regional/lac/brazil/parceiros-visa/documentos/introdu%C3%A7%C3%A3o-do-visa-flexible-rate-b2b-virtual-program.pdf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Fala: </a:t>
            </a:r>
            <a:r>
              <a:rPr lang="pt-BR" b="0" dirty="0" smtClean="0"/>
              <a:t>Existe </a:t>
            </a:r>
            <a:r>
              <a:rPr lang="pt-BR" dirty="0" smtClean="0"/>
              <a:t>diferença entre “salvar texto” e “salvar regra”. Salvar regra significa organizar o dado de um jeito que permita cálculo, filtro, comparação e auditoria.</a:t>
            </a:r>
            <a:br>
              <a:rPr lang="pt-BR" dirty="0" smtClean="0"/>
            </a:br>
            <a:r>
              <a:rPr lang="pt-BR" dirty="0" smtClean="0"/>
              <a:t>“A modelagem foi orientada a regras versionadas. Em vez de guardar apenas uma taxa final, a base separa dimensões e mantém evidência da origem. Isso viabiliza consulta, simulação, </a:t>
            </a:r>
            <a:r>
              <a:rPr lang="pt-BR" dirty="0" err="1" smtClean="0"/>
              <a:t>diff</a:t>
            </a:r>
            <a:r>
              <a:rPr lang="pt-BR" dirty="0" smtClean="0"/>
              <a:t> entre versões e </a:t>
            </a:r>
            <a:r>
              <a:rPr lang="pt-BR" dirty="0" err="1" smtClean="0"/>
              <a:t>explicabilidade</a:t>
            </a:r>
            <a:r>
              <a:rPr lang="pt-BR" dirty="0" smtClean="0"/>
              <a:t>.”</a:t>
            </a:r>
          </a:p>
          <a:p>
            <a:r>
              <a:rPr lang="pt-BR" b="1" dirty="0" smtClean="0"/>
              <a:t>A Proposta não é ter uma base de texto, e</a:t>
            </a:r>
            <a:r>
              <a:rPr lang="pt-BR" b="1" baseline="0" dirty="0" smtClean="0"/>
              <a:t> sim</a:t>
            </a:r>
            <a:r>
              <a:rPr lang="pt-BR" b="1" dirty="0" smtClean="0"/>
              <a:t> uma base de regras’</a:t>
            </a:r>
            <a:r>
              <a:rPr lang="pt-BR" dirty="0" smtClean="0"/>
              <a:t>. 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https://www.mastercard.com.br/content/dam/public/mastercardcom/lac/br/home/visao/quem-somos/intercambio/Interchange%20-%202020-12-22.pdf
- https://www.visa.com.br/content/dam/VCOM/regional/lac/brazil/media-kits/documents/Atualizacao-do-Processo-de-Validacao-e-Monitoramento-de-MCCs.pdf
- Uploaded case: Bolsista_Doutor_Bandeiras.pdf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Fala: </a:t>
            </a:r>
            <a:r>
              <a:rPr lang="pt-BR" dirty="0" smtClean="0"/>
              <a:t>Esse slide é o coração técnico </a:t>
            </a:r>
            <a:r>
              <a:rPr lang="pt-BR" b="1" dirty="0" smtClean="0"/>
              <a:t>Temos um pipeline</a:t>
            </a:r>
            <a:r>
              <a:rPr lang="pt-BR" b="1" baseline="0" dirty="0" smtClean="0"/>
              <a:t> com uma arquitetura em 4 camadas: </a:t>
            </a:r>
            <a:r>
              <a:rPr lang="pt-BR" dirty="0" smtClean="0"/>
              <a:t>entrada, interpretação, padronização, qualidade e consumo.</a:t>
            </a:r>
            <a:br>
              <a:rPr lang="pt-BR" dirty="0" smtClean="0"/>
            </a:br>
            <a:r>
              <a:rPr lang="pt-BR" dirty="0" smtClean="0"/>
              <a:t>“O pipeline começa na ingestão documental, passa por </a:t>
            </a:r>
            <a:r>
              <a:rPr lang="pt-BR" dirty="0" err="1" smtClean="0"/>
              <a:t>renderização</a:t>
            </a:r>
            <a:r>
              <a:rPr lang="pt-BR" dirty="0" smtClean="0"/>
              <a:t> e leitura de layout, segmentação por seções, extração híbrida, normalização, validação, persistência e consumo. O ponto crítico é que o LLM entra como interpretador assistido, não como autoridade final. A gravação depende de validação e evidência.”</a:t>
            </a:r>
          </a:p>
          <a:p>
            <a:r>
              <a:rPr lang="pt-BR" dirty="0" smtClean="0"/>
              <a:t>Observe que essa arquitetura evita o erro clássico de confiar cegamente na IA generativa.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Uploaded case: Bolsista_Doutor_Bandeiras.pdf
- https://www.mastercard.com/us/en/business/support/merchant-interchange-rates.html
- https://www.visa.com.br/content/dam/VCOM/regional/lac/brazil/parceiros-visa/documentos/regulamento-dos-arranjos-de-pagamento-da-visa-do-brasil.pdf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smtClean="0"/>
              <a:t>Aqui entra um conceito muito importante: </a:t>
            </a:r>
            <a:r>
              <a:rPr lang="pt-BR" b="1" dirty="0" smtClean="0"/>
              <a:t>automação confiável não elimina controle</a:t>
            </a:r>
            <a:r>
              <a:rPr lang="pt-BR" dirty="0" smtClean="0"/>
              <a:t>.</a:t>
            </a:r>
          </a:p>
          <a:p>
            <a:r>
              <a:rPr lang="pt-BR" dirty="0" smtClean="0"/>
              <a:t>“Para evoluir o agente de forma segura, eu propus um motor com classificação de bloco, extração estruturada, resolução semântica, validação e decisão final. Em termos práticos, a automação cobre o que é consistente; o que é ambíguo vai para revisão humana. Esse modelo reduz risco sem travar escala.” pois trabalha com score, regra de confiança e fila de exceção.</a:t>
            </a:r>
            <a:r>
              <a:rPr lang="pt-BR" baseline="0" dirty="0" smtClean="0"/>
              <a:t> E portanto traz visibilidade para governança</a:t>
            </a:r>
            <a:endParaRPr lang="pt-BR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Uploaded case: Bolsista_Doutor_Bandeiras.pdf
- https://www.mastercard.com/us/en/business/support/merchant-interchange-rates.html
- https://www.visa.com.br/content/dam/VCOM/regional/lac/brazil/parceiros-visa/documentos/regulamento-dos-arranjos-de-pagamento-da-visa-do-brasil.pdf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Fala: Aqui mostramos por</a:t>
            </a:r>
            <a:r>
              <a:rPr lang="pt-BR" b="1" baseline="0" dirty="0" smtClean="0"/>
              <a:t> que engenharia de dados existe: para virar insight, </a:t>
            </a:r>
            <a:r>
              <a:rPr lang="pt-BR" b="1" baseline="0" dirty="0" err="1" smtClean="0"/>
              <a:t>dashboard</a:t>
            </a:r>
            <a:r>
              <a:rPr lang="pt-BR" b="1" baseline="0" dirty="0" smtClean="0"/>
              <a:t>, simulador e apoio à decisão.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“Com a base estruturada, a empresa deixa de depender de leitura manual de </a:t>
            </a:r>
            <a:r>
              <a:rPr lang="pt-BR" dirty="0" err="1" smtClean="0"/>
              <a:t>PDFs</a:t>
            </a:r>
            <a:r>
              <a:rPr lang="pt-BR" dirty="0" smtClean="0"/>
              <a:t> e passa a operar com comparativos entre bandeiras, simuladores de impacto, monitoramento de mudanças e análises por segmento. Ou seja, o ganho não é só técnico: é decisório.”</a:t>
            </a:r>
          </a:p>
          <a:p>
            <a:r>
              <a:rPr lang="pt-BR" b="1" dirty="0" err="1" smtClean="0"/>
              <a:t>Portantoo</a:t>
            </a:r>
            <a:r>
              <a:rPr lang="pt-BR" b="1" dirty="0" smtClean="0"/>
              <a:t> pipeline vira produto analítico’</a:t>
            </a:r>
            <a:r>
              <a:rPr lang="pt-BR" dirty="0" smtClean="0"/>
              <a:t>.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Uploaded case: Bolsista_Doutor_Bandeiras.pdf
- https://www.mastercard.com.br/content/dam/public/mastercardcom/lac/br/home/visao/quem-somos/intercambio/Interchange%20-%202020-12-22.pdf
- https://www.visa.com.br/content/dam/VCOM/regional/lac/brazil/parceiros-visa/documentos/alteracao-nas-taxas-de-intercambio-de-transacoes-nacionais-pre-pagos.pdf
- https://www.bcb.gov.br/detalhenoticia/633/noticia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 smtClean="0"/>
              <a:t>Fala:</a:t>
            </a:r>
            <a:r>
              <a:rPr lang="pt-BR" dirty="0" smtClean="0"/>
              <a:t> Como uma solução madura não nasce pronta em produção; “Eu propus uma evolução em três etapas: uma POC controlada para provar a extração; um MVP interno para alimentar consultas e </a:t>
            </a:r>
            <a:r>
              <a:rPr lang="pt-BR" dirty="0" err="1" smtClean="0"/>
              <a:t>dashboard</a:t>
            </a:r>
            <a:r>
              <a:rPr lang="pt-BR" dirty="0" smtClean="0"/>
              <a:t>; e uma escala operacional, com </a:t>
            </a:r>
            <a:r>
              <a:rPr lang="pt-BR" dirty="0" err="1" smtClean="0"/>
              <a:t>observabilidade</a:t>
            </a:r>
            <a:r>
              <a:rPr lang="pt-BR" dirty="0" smtClean="0"/>
              <a:t>, versionamento e revisão assistida. Assim, o risco é controlado e o valor aparece cedo.”</a:t>
            </a:r>
          </a:p>
          <a:p>
            <a:r>
              <a:rPr lang="pt-BR" b="1" dirty="0" smtClean="0"/>
              <a:t>Como defender: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Mostre maturidade de entrega. Empresa gosta quando a solução vem com sequência de implantação plausível.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[</a:t>
            </a:r>
            <a:r>
              <a:rPr lang="en-US" dirty="0"/>
              <a:t>Sources]
- Uploaded case: Bolsista_Doutor_Bandeiras.pdf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pt-BR" b="1" dirty="0" smtClean="0"/>
              <a:t>Fala: Aqui demonstro </a:t>
            </a:r>
            <a:r>
              <a:rPr lang="pt-BR" dirty="0" smtClean="0"/>
              <a:t>governança informacional origem, versão, evidência e licitude de acesso</a:t>
            </a:r>
            <a:br>
              <a:rPr lang="pt-BR" dirty="0" smtClean="0"/>
            </a:br>
            <a:r>
              <a:rPr lang="pt-BR" dirty="0" smtClean="0"/>
              <a:t>“Para a análise exploratória, usei fontes oficiais públicas disponíveis nos sites das bandeiras. Mas a solução foi desenhada para não depender apenas do corpus público: ela suporta novas versões, documentos internos e contexto autorizado. O ponto central é que cada regra persistida leva documento, página e evidência do trecho.”</a:t>
            </a:r>
          </a:p>
          <a:p>
            <a:r>
              <a:rPr lang="pt-BR" b="1" dirty="0" smtClean="0"/>
              <a:t>Como defender: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Esse slide responde preventivamente a uma objeção importante: “de onde vieram essas informações?”. A resposta é forte e transparente. Documentos públicos oficiais existem, mas a Visa também informa que nem todo o acervo é público, então seu posicionamento deve ser cuidadoso e profissional. 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9296359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pt-BR" b="1" dirty="0" smtClean="0"/>
              <a:t>Fala: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“Eu trouxe um pseudocódigo para mostrar que a proposta não é apenas conceitual. Seguindo o  fluxo  temo:</a:t>
            </a:r>
            <a:r>
              <a:rPr lang="pt-BR" baseline="0" dirty="0" smtClean="0"/>
              <a:t> </a:t>
            </a:r>
            <a:br>
              <a:rPr lang="pt-BR" baseline="0" dirty="0" smtClean="0"/>
            </a:br>
            <a:r>
              <a:rPr lang="pt-BR" b="1" dirty="0" smtClean="0"/>
              <a:t>1. for </a:t>
            </a:r>
            <a:r>
              <a:rPr lang="pt-BR" b="1" dirty="0" err="1" smtClean="0"/>
              <a:t>doc</a:t>
            </a:r>
            <a:r>
              <a:rPr lang="pt-BR" b="1" dirty="0" smtClean="0"/>
              <a:t> in </a:t>
            </a:r>
            <a:r>
              <a:rPr lang="pt-BR" b="1" dirty="0" err="1" smtClean="0"/>
              <a:t>docs</a:t>
            </a:r>
            <a:r>
              <a:rPr lang="pt-BR" b="1" dirty="0" smtClean="0"/>
              <a:t>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O sistema percorre todos os documentos de entrada. Isso mostra que a solução é escalável e não depende de tratamento manual documento a documento.</a:t>
            </a:r>
            <a:r>
              <a:rPr lang="pt-BR" baseline="0" dirty="0" smtClean="0"/>
              <a:t/>
            </a:r>
            <a:br>
              <a:rPr lang="pt-BR" baseline="0" dirty="0" smtClean="0"/>
            </a:br>
            <a:r>
              <a:rPr lang="pt-BR" b="1" dirty="0" smtClean="0"/>
              <a:t>2. </a:t>
            </a:r>
            <a:r>
              <a:rPr lang="pt-BR" b="1" dirty="0" err="1" smtClean="0"/>
              <a:t>pages</a:t>
            </a:r>
            <a:r>
              <a:rPr lang="pt-BR" b="1" dirty="0" smtClean="0"/>
              <a:t> = render(</a:t>
            </a:r>
            <a:r>
              <a:rPr lang="pt-BR" b="1" dirty="0" err="1" smtClean="0"/>
              <a:t>doc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O PDF é </a:t>
            </a:r>
            <a:r>
              <a:rPr lang="pt-BR" dirty="0" err="1" smtClean="0"/>
              <a:t>renderizado</a:t>
            </a:r>
            <a:r>
              <a:rPr lang="pt-BR" dirty="0" smtClean="0"/>
              <a:t> em páginas. Isso é importante porque muita informação relevante está no layout: tabela, cabeçalho, rodapé, coluna, destaque visual.</a:t>
            </a:r>
            <a:r>
              <a:rPr lang="pt-BR" baseline="0" dirty="0" smtClean="0"/>
              <a:t/>
            </a:r>
            <a:br>
              <a:rPr lang="pt-BR" baseline="0" dirty="0" smtClean="0"/>
            </a:br>
            <a:r>
              <a:rPr lang="pt-BR" b="1" dirty="0" smtClean="0"/>
              <a:t>3. </a:t>
            </a:r>
            <a:r>
              <a:rPr lang="pt-BR" b="1" dirty="0" err="1" smtClean="0"/>
              <a:t>blocks</a:t>
            </a:r>
            <a:r>
              <a:rPr lang="pt-BR" b="1" dirty="0" smtClean="0"/>
              <a:t> = </a:t>
            </a:r>
            <a:r>
              <a:rPr lang="pt-BR" b="1" dirty="0" err="1" smtClean="0"/>
              <a:t>parse_layout</a:t>
            </a:r>
            <a:r>
              <a:rPr lang="pt-BR" b="1" dirty="0" smtClean="0"/>
              <a:t>(</a:t>
            </a:r>
            <a:r>
              <a:rPr lang="pt-BR" b="1" dirty="0" err="1" smtClean="0"/>
              <a:t>pages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Aqui o sistema extrai blocos estruturais: texto corrido, tabelas, títulos, subtítulos, caixas e possíveis zonas</a:t>
            </a:r>
          </a:p>
          <a:p>
            <a:r>
              <a:rPr lang="pt-BR" b="1" dirty="0" smtClean="0"/>
              <a:t>4. </a:t>
            </a:r>
            <a:r>
              <a:rPr lang="pt-BR" b="1" dirty="0" err="1" smtClean="0"/>
              <a:t>chunks</a:t>
            </a:r>
            <a:r>
              <a:rPr lang="pt-BR" b="1" dirty="0" smtClean="0"/>
              <a:t> = </a:t>
            </a:r>
            <a:r>
              <a:rPr lang="pt-BR" b="1" dirty="0" err="1" smtClean="0"/>
              <a:t>split_sections</a:t>
            </a:r>
            <a:r>
              <a:rPr lang="pt-BR" b="1" dirty="0" smtClean="0"/>
              <a:t>(</a:t>
            </a:r>
            <a:r>
              <a:rPr lang="pt-BR" b="1" dirty="0" err="1" smtClean="0"/>
              <a:t>blocks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Os blocos são agrupados em pedaços semanticamente úteis. Um </a:t>
            </a:r>
            <a:r>
              <a:rPr lang="pt-BR" dirty="0" err="1" smtClean="0"/>
              <a:t>chunk</a:t>
            </a:r>
            <a:r>
              <a:rPr lang="pt-BR" dirty="0" smtClean="0"/>
              <a:t> pode ser uma seção de tarifas, uma tabela de segmento ou um bloco de ajustes.</a:t>
            </a:r>
            <a:endParaRPr lang="pt-BR" baseline="0" dirty="0" smtClean="0"/>
          </a:p>
          <a:p>
            <a:r>
              <a:rPr lang="pt-BR" b="1" dirty="0" smtClean="0"/>
              <a:t>5. </a:t>
            </a:r>
            <a:r>
              <a:rPr lang="pt-BR" b="1" dirty="0" err="1" smtClean="0"/>
              <a:t>kind</a:t>
            </a:r>
            <a:r>
              <a:rPr lang="pt-BR" b="1" dirty="0" smtClean="0"/>
              <a:t> = </a:t>
            </a:r>
            <a:r>
              <a:rPr lang="pt-BR" b="1" dirty="0" err="1" smtClean="0"/>
              <a:t>classify</a:t>
            </a:r>
            <a:r>
              <a:rPr lang="pt-BR" b="1" dirty="0" smtClean="0"/>
              <a:t>(</a:t>
            </a:r>
            <a:r>
              <a:rPr lang="pt-BR" b="1" dirty="0" err="1" smtClean="0"/>
              <a:t>chunk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Antes de extrair, o sistema classifica o </a:t>
            </a:r>
            <a:r>
              <a:rPr lang="pt-BR" dirty="0" err="1" smtClean="0"/>
              <a:t>chunk</a:t>
            </a:r>
            <a:r>
              <a:rPr lang="pt-BR" dirty="0" smtClean="0"/>
              <a:t>. Exemplo: isso é tabela tarifária? é regra condicional? é nota de exceção? Isso reduz erro.</a:t>
            </a:r>
          </a:p>
          <a:p>
            <a:r>
              <a:rPr lang="pt-BR" b="1" dirty="0" smtClean="0"/>
              <a:t>6. </a:t>
            </a:r>
            <a:r>
              <a:rPr lang="pt-BR" b="1" dirty="0" err="1" smtClean="0"/>
              <a:t>rows</a:t>
            </a:r>
            <a:r>
              <a:rPr lang="pt-BR" b="1" dirty="0" smtClean="0"/>
              <a:t> = </a:t>
            </a:r>
            <a:r>
              <a:rPr lang="pt-BR" b="1" dirty="0" err="1" smtClean="0"/>
              <a:t>extract_rules</a:t>
            </a:r>
            <a:r>
              <a:rPr lang="pt-BR" b="1" dirty="0" smtClean="0"/>
              <a:t>(</a:t>
            </a:r>
            <a:r>
              <a:rPr lang="pt-BR" b="1" dirty="0" err="1" smtClean="0"/>
              <a:t>chunk</a:t>
            </a:r>
            <a:r>
              <a:rPr lang="pt-BR" b="1" dirty="0" smtClean="0"/>
              <a:t>, </a:t>
            </a:r>
            <a:r>
              <a:rPr lang="pt-BR" b="1" dirty="0" err="1" smtClean="0"/>
              <a:t>kind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Depois da classificação, o sistema tenta transformar aquele </a:t>
            </a:r>
            <a:r>
              <a:rPr lang="pt-BR" dirty="0" err="1" smtClean="0"/>
              <a:t>chunk</a:t>
            </a:r>
            <a:r>
              <a:rPr lang="pt-BR" dirty="0" smtClean="0"/>
              <a:t> em regras candidatas. Aqui pode haver </a:t>
            </a:r>
            <a:r>
              <a:rPr lang="pt-BR" dirty="0" err="1" smtClean="0"/>
              <a:t>parser</a:t>
            </a:r>
            <a:r>
              <a:rPr lang="pt-BR" dirty="0" smtClean="0"/>
              <a:t>, </a:t>
            </a:r>
            <a:r>
              <a:rPr lang="pt-BR" dirty="0" err="1" smtClean="0"/>
              <a:t>regex</a:t>
            </a:r>
            <a:r>
              <a:rPr lang="pt-BR" dirty="0" smtClean="0"/>
              <a:t>, modelo semântico ou LLM estruturado.</a:t>
            </a:r>
          </a:p>
          <a:p>
            <a:r>
              <a:rPr lang="pt-BR" b="1" dirty="0" smtClean="0"/>
              <a:t>7. </a:t>
            </a:r>
            <a:r>
              <a:rPr lang="pt-BR" b="1" dirty="0" err="1" smtClean="0"/>
              <a:t>rule</a:t>
            </a:r>
            <a:r>
              <a:rPr lang="pt-BR" b="1" dirty="0" smtClean="0"/>
              <a:t> = normalize(</a:t>
            </a:r>
            <a:r>
              <a:rPr lang="pt-BR" b="1" dirty="0" err="1" smtClean="0"/>
              <a:t>row</a:t>
            </a:r>
            <a:r>
              <a:rPr lang="pt-BR" b="1" dirty="0" smtClean="0"/>
              <a:t>)</a:t>
            </a:r>
            <a:endParaRPr lang="pt-BR" dirty="0" smtClean="0"/>
          </a:p>
          <a:p>
            <a:r>
              <a:rPr lang="pt-BR" dirty="0" smtClean="0"/>
              <a:t>Cada regra extraída é convertida para um formato canônico. Exemplo: padronizar nomes de produto, faixas de parcelamento, nomenclaturas de segmento e tipos de transação.</a:t>
            </a:r>
          </a:p>
          <a:p>
            <a:r>
              <a:rPr lang="pt-BR" b="1" dirty="0" smtClean="0"/>
              <a:t>8. </a:t>
            </a:r>
            <a:r>
              <a:rPr lang="pt-BR" b="1" dirty="0" err="1" smtClean="0"/>
              <a:t>proof</a:t>
            </a:r>
            <a:r>
              <a:rPr lang="pt-BR" b="1" dirty="0" smtClean="0"/>
              <a:t> = </a:t>
            </a:r>
            <a:r>
              <a:rPr lang="pt-BR" b="1" dirty="0" err="1" smtClean="0"/>
              <a:t>attach_evidence</a:t>
            </a:r>
            <a:r>
              <a:rPr lang="pt-BR" b="1" dirty="0" smtClean="0"/>
              <a:t>(</a:t>
            </a:r>
            <a:r>
              <a:rPr lang="pt-BR" b="1" dirty="0" err="1" smtClean="0"/>
              <a:t>doc</a:t>
            </a:r>
            <a:r>
              <a:rPr lang="pt-BR" b="1" dirty="0" smtClean="0"/>
              <a:t>, </a:t>
            </a:r>
            <a:r>
              <a:rPr lang="pt-BR" b="1" dirty="0" err="1" smtClean="0"/>
              <a:t>chunk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Toda regra recebe sua evidência: documento, página, trecho e talvez imagem da região. Isso é crucial para auditoria e revisão.</a:t>
            </a:r>
          </a:p>
          <a:p>
            <a:r>
              <a:rPr lang="pt-BR" b="1" dirty="0" smtClean="0"/>
              <a:t>9. score = </a:t>
            </a:r>
            <a:r>
              <a:rPr lang="pt-BR" b="1" dirty="0" err="1" smtClean="0"/>
              <a:t>validate</a:t>
            </a:r>
            <a:r>
              <a:rPr lang="pt-BR" b="1" dirty="0" smtClean="0"/>
              <a:t>(</a:t>
            </a:r>
            <a:r>
              <a:rPr lang="pt-BR" b="1" dirty="0" err="1" smtClean="0"/>
              <a:t>rule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A regra passa por validação. Pode incluir consistência de campos, presença de dimensões obrigatórias, coerência de valores e aderência a padrões conhecidos.</a:t>
            </a:r>
          </a:p>
          <a:p>
            <a:r>
              <a:rPr lang="pt-BR" b="1" dirty="0" smtClean="0"/>
              <a:t>10. </a:t>
            </a:r>
            <a:r>
              <a:rPr lang="pt-BR" b="1" dirty="0" err="1" smtClean="0"/>
              <a:t>if</a:t>
            </a:r>
            <a:r>
              <a:rPr lang="pt-BR" b="1" dirty="0" smtClean="0"/>
              <a:t> score &gt;= MIN_SCORE </a:t>
            </a:r>
            <a:r>
              <a:rPr lang="pt-BR" b="1" dirty="0" err="1" smtClean="0"/>
              <a:t>and</a:t>
            </a:r>
            <a:r>
              <a:rPr lang="pt-BR" b="1" dirty="0" smtClean="0"/>
              <a:t> </a:t>
            </a:r>
            <a:r>
              <a:rPr lang="pt-BR" b="1" dirty="0" err="1" smtClean="0"/>
              <a:t>not</a:t>
            </a:r>
            <a:r>
              <a:rPr lang="pt-BR" b="1" dirty="0" smtClean="0"/>
              <a:t> </a:t>
            </a:r>
            <a:r>
              <a:rPr lang="pt-BR" b="1" dirty="0" err="1" smtClean="0"/>
              <a:t>has_conflict</a:t>
            </a:r>
            <a:r>
              <a:rPr lang="pt-BR" b="1" dirty="0" smtClean="0"/>
              <a:t>(</a:t>
            </a:r>
            <a:r>
              <a:rPr lang="pt-BR" b="1" dirty="0" err="1" smtClean="0"/>
              <a:t>rule</a:t>
            </a:r>
            <a:r>
              <a:rPr lang="pt-BR" b="1" dirty="0" smtClean="0"/>
              <a:t>):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Só entra no banco o que alcança confiança mínima e não apresenta conflito lógico ou semântico.</a:t>
            </a:r>
          </a:p>
          <a:p>
            <a:r>
              <a:rPr lang="pt-BR" b="1" dirty="0" smtClean="0"/>
              <a:t>11. </a:t>
            </a:r>
            <a:r>
              <a:rPr lang="pt-BR" b="1" dirty="0" err="1" smtClean="0"/>
              <a:t>save</a:t>
            </a:r>
            <a:r>
              <a:rPr lang="pt-BR" b="1" dirty="0" smtClean="0"/>
              <a:t>(</a:t>
            </a:r>
            <a:r>
              <a:rPr lang="pt-BR" b="1" dirty="0" err="1" smtClean="0"/>
              <a:t>rule</a:t>
            </a:r>
            <a:r>
              <a:rPr lang="pt-BR" b="1" dirty="0" smtClean="0"/>
              <a:t>, </a:t>
            </a:r>
            <a:r>
              <a:rPr lang="pt-BR" b="1" dirty="0" err="1" smtClean="0"/>
              <a:t>proof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A regra validada é persistida na base estruturada, junto com a prova de origem.</a:t>
            </a:r>
          </a:p>
          <a:p>
            <a:r>
              <a:rPr lang="pt-BR" b="1" dirty="0" smtClean="0"/>
              <a:t>12. </a:t>
            </a:r>
            <a:r>
              <a:rPr lang="pt-BR" b="1" dirty="0" err="1" smtClean="0"/>
              <a:t>queue_review</a:t>
            </a:r>
            <a:r>
              <a:rPr lang="pt-BR" b="1" dirty="0" smtClean="0"/>
              <a:t>(</a:t>
            </a:r>
            <a:r>
              <a:rPr lang="pt-BR" b="1" dirty="0" err="1" smtClean="0"/>
              <a:t>rule</a:t>
            </a:r>
            <a:r>
              <a:rPr lang="pt-BR" b="1" dirty="0" smtClean="0"/>
              <a:t>, </a:t>
            </a:r>
            <a:r>
              <a:rPr lang="pt-BR" b="1" dirty="0" err="1" smtClean="0"/>
              <a:t>proof</a:t>
            </a:r>
            <a:r>
              <a:rPr lang="pt-BR" b="1" dirty="0" smtClean="0"/>
              <a:t>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Se houver ambiguidade, o caso vai para revisão humana. Esse é um ponto muito forte da sua defesa.</a:t>
            </a:r>
          </a:p>
          <a:p>
            <a:r>
              <a:rPr lang="pt-BR" b="1" dirty="0" smtClean="0"/>
              <a:t>13. </a:t>
            </a:r>
            <a:r>
              <a:rPr lang="pt-BR" b="1" dirty="0" err="1" smtClean="0"/>
              <a:t>generate_version_diff</a:t>
            </a:r>
            <a:r>
              <a:rPr lang="pt-BR" b="1" dirty="0" smtClean="0"/>
              <a:t>()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Depois da carga, o sistema compara versões e identifica o que mudou. Isso é extremamente útil para impacto financeiro e governança.</a:t>
            </a:r>
          </a:p>
          <a:p>
            <a:r>
              <a:rPr lang="pt-BR" b="1" dirty="0" smtClean="0"/>
              <a:t>14. </a:t>
            </a:r>
            <a:r>
              <a:rPr lang="pt-BR" b="1" dirty="0" err="1" smtClean="0"/>
              <a:t>publish_api_and_dashboard</a:t>
            </a:r>
            <a:r>
              <a:rPr lang="pt-BR" b="1" dirty="0" smtClean="0"/>
              <a:t>()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Por fim, a base vira produto: API, </a:t>
            </a:r>
            <a:r>
              <a:rPr lang="pt-BR" dirty="0" err="1" smtClean="0"/>
              <a:t>dashboard</a:t>
            </a:r>
            <a:r>
              <a:rPr lang="pt-BR" dirty="0" smtClean="0"/>
              <a:t>, consulta operacional, simulador e monitor de mudança.</a:t>
            </a:r>
          </a:p>
          <a:p>
            <a:endParaRPr lang="pt-BR" baseline="0" dirty="0" smtClean="0"/>
          </a:p>
          <a:p>
            <a:r>
              <a:rPr lang="pt-BR" baseline="0" dirty="0" smtClean="0"/>
              <a:t/>
            </a:r>
            <a:br>
              <a:rPr lang="pt-BR" baseline="0" dirty="0" smtClean="0"/>
            </a:br>
            <a:r>
              <a:rPr lang="pt-BR" dirty="0" smtClean="0"/>
              <a:t>começa lendo o documento, extraindo layout, classificando blocos, convertendo trechos em regras candidatas, normalizando, validando e só então persistindo. Em caso de ambiguidade, a regra vai para revisão humana. No fim, o sistema gera </a:t>
            </a:r>
            <a:r>
              <a:rPr lang="pt-BR" dirty="0" err="1" smtClean="0"/>
              <a:t>diff</a:t>
            </a:r>
            <a:r>
              <a:rPr lang="pt-BR" dirty="0" smtClean="0"/>
              <a:t> entre versões e publica a base para consulta.”</a:t>
            </a:r>
          </a:p>
          <a:p>
            <a:r>
              <a:rPr lang="pt-BR" b="1" dirty="0" smtClean="0"/>
              <a:t>Como defender:</a:t>
            </a:r>
            <a:r>
              <a:rPr lang="pt-BR" dirty="0" smtClean="0"/>
              <a:t/>
            </a:r>
            <a:br>
              <a:rPr lang="pt-BR" dirty="0" smtClean="0"/>
            </a:br>
            <a:r>
              <a:rPr lang="pt-BR" dirty="0" smtClean="0"/>
              <a:t>Esse slide mostra </a:t>
            </a:r>
            <a:r>
              <a:rPr lang="pt-BR" dirty="0" err="1" smtClean="0"/>
              <a:t>implementabilidade</a:t>
            </a:r>
            <a:r>
              <a:rPr lang="pt-BR" dirty="0" smtClean="0"/>
              <a:t>. Ele fecha a apresentação muito bem porque traduz arquitetura em comportamento operacional.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07532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17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igital_illustration_in_a_futuristic_and_financi.png"/>
          <p:cNvPicPr>
            <a:picLocks noChangeAspect="1"/>
          </p:cNvPicPr>
          <p:nvPr/>
        </p:nvPicPr>
        <p:blipFill>
          <a:blip r:embed="rId3"/>
          <a:srcRect t="10061" b="10062"/>
          <a:stretch/>
        </p:blipFill>
        <p:spPr>
          <a:xfrm>
            <a:off x="0" y="164592"/>
            <a:ext cx="12191695" cy="64922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64592"/>
            <a:ext cx="12191695" cy="6492240"/>
          </a:xfrm>
          <a:prstGeom prst="rect">
            <a:avLst/>
          </a:prstGeom>
          <a:solidFill>
            <a:srgbClr val="08162A">
              <a:alpha val="65000"/>
            </a:srgbClr>
          </a:solidFill>
          <a:ln w="12700">
            <a:solidFill>
              <a:srgbClr val="08162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85800" y="10058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de IA para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regras de intercâmbio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13232" y="2514600"/>
            <a:ext cx="5120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AF0FF"/>
                </a:solidFill>
              </a:rPr>
              <a:t>Case técnico - extração, normalização e simulação automática</a:t>
            </a:r>
            <a:endParaRPr lang="en-US" sz="1320" dirty="0"/>
          </a:p>
          <a:p>
            <a:pPr marL="0" indent="0">
              <a:buNone/>
            </a:pPr>
            <a:r>
              <a:rPr lang="en-US" sz="1320" dirty="0">
                <a:solidFill>
                  <a:srgbClr val="EAF0FF"/>
                </a:solidFill>
              </a:rPr>
              <a:t>de manuais Visa e Mastercard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731520" y="3310128"/>
            <a:ext cx="2057400" cy="301752"/>
          </a:xfrm>
          <a:prstGeom prst="roundRect">
            <a:avLst>
              <a:gd name="adj" fmla="val 18182"/>
            </a:avLst>
          </a:prstGeom>
          <a:solidFill>
            <a:srgbClr val="2156D9"/>
          </a:solidFill>
          <a:ln>
            <a:solidFill>
              <a:srgbClr val="2156D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Análise exploratória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2852928" y="3310128"/>
            <a:ext cx="2057400" cy="301752"/>
          </a:xfrm>
          <a:prstGeom prst="roundRect">
            <a:avLst>
              <a:gd name="adj" fmla="val 18182"/>
            </a:avLst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Pipeline híbrido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974336" y="3310128"/>
            <a:ext cx="2240280" cy="301752"/>
          </a:xfrm>
          <a:prstGeom prst="roundRect">
            <a:avLst>
              <a:gd name="adj" fmla="val 18182"/>
            </a:avLst>
          </a:prstGeom>
          <a:solidFill>
            <a:srgbClr val="16A4A8"/>
          </a:solidFill>
          <a:ln>
            <a:solidFill>
              <a:srgbClr val="16A4A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Base versionada + BI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31520" y="39776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Objetivo da solução: transformar documentação tarifária heterogênea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em uma camada confiável para consulta, auditoria e simulação.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31520" y="47091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60" dirty="0" smtClean="0">
                <a:solidFill>
                  <a:srgbClr val="D9E4FF"/>
                </a:solidFill>
              </a:rPr>
              <a:t>Entrega proposta: foco em rastreabilidade, governança de regras e baixo acoplamento ao formato do documento.</a:t>
            </a:r>
            <a:endParaRPr lang="pt-BR" sz="11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Resumo executivo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a análise dos materiais públicos já permite concluir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566928" y="1325880"/>
            <a:ext cx="5486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892040" cy="42976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96469" indent="-196469">
              <a:buSzPct val="100000"/>
              <a:buChar char="•"/>
            </a:pPr>
            <a:r>
              <a:rPr lang="en-US" sz="18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Visa expõe uma lógica composicional: tarifa base por produto + ajustes por segmento, captura/autenticação, pagamento protelado e qualidade de dados.</a:t>
            </a:r>
            <a:endParaRPr lang="en-US" sz="1820" dirty="0"/>
          </a:p>
          <a:p>
            <a:pPr marL="196469" indent="-196469">
              <a:buSzPct val="100000"/>
              <a:buChar char="•"/>
            </a:pPr>
            <a:r>
              <a:rPr lang="en-US" sz="18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Mastercard expõe uma lógica mais tabular: programa de intercâmbio x segmento x bucket de parcelamento.</a:t>
            </a:r>
            <a:endParaRPr lang="en-US" sz="1820" dirty="0"/>
          </a:p>
          <a:p>
            <a:pPr marL="196469" indent="-196469">
              <a:buSzPct val="100000"/>
              <a:buChar char="•"/>
            </a:pPr>
            <a:r>
              <a:rPr lang="en-US" sz="18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produção, o melhor desenho não é “extrair texto”, mas “montar um motor de regras versionadas” com rastreio até página/linha/célula origem.</a:t>
            </a:r>
            <a:endParaRPr lang="en-US" sz="1820" dirty="0"/>
          </a:p>
          <a:p>
            <a:pPr marL="196469" indent="-196469">
              <a:buSzPct val="100000"/>
              <a:buChar char="•"/>
            </a:pPr>
            <a:r>
              <a:rPr lang="en-US" sz="18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extração precisa ser híbrida: layout/tabela/OCR + parser determinístico + LLM apenas para desambiguar e completar lacunas.</a:t>
            </a:r>
            <a:endParaRPr lang="en-US" sz="1820" dirty="0"/>
          </a:p>
          <a:p>
            <a:pPr marL="196469" indent="-196469">
              <a:buSzPct val="100000"/>
              <a:buChar char="•"/>
            </a:pPr>
            <a:r>
              <a:rPr lang="en-US" sz="18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base de saída deve servir dois consumidores: consulta operacional e simulador financeiro.</a:t>
            </a:r>
            <a:endParaRPr lang="en-US" sz="182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4892040"/>
          </a:xfrm>
          <a:prstGeom prst="roundRect">
            <a:avLst>
              <a:gd name="adj" fmla="val 1495"/>
            </a:avLst>
          </a:prstGeom>
          <a:solidFill>
            <a:srgbClr val="FBFC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71232" y="2971800"/>
            <a:ext cx="292608" cy="420624"/>
          </a:xfrm>
          <a:prstGeom prst="chevron">
            <a:avLst/>
          </a:prstGeom>
          <a:solidFill>
            <a:srgbClr val="DDE6F9"/>
          </a:solidFill>
          <a:ln w="12700">
            <a:solidFill>
              <a:srgbClr val="DDE6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787384" y="2971800"/>
            <a:ext cx="292608" cy="420624"/>
          </a:xfrm>
          <a:prstGeom prst="chevron">
            <a:avLst/>
          </a:prstGeom>
          <a:solidFill>
            <a:srgbClr val="DDE6F9"/>
          </a:solidFill>
          <a:ln w="12700">
            <a:solidFill>
              <a:srgbClr val="DDE6F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03536" y="2971800"/>
            <a:ext cx="292608" cy="420624"/>
          </a:xfrm>
          <a:prstGeom prst="chevron">
            <a:avLst/>
          </a:prstGeom>
          <a:solidFill>
            <a:srgbClr val="DDE6F9"/>
          </a:solidFill>
          <a:ln w="12700">
            <a:solidFill>
              <a:srgbClr val="DDE6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29400" y="2606040"/>
            <a:ext cx="969264" cy="1143000"/>
          </a:xfrm>
          <a:prstGeom prst="roundRect">
            <a:avLst>
              <a:gd name="adj" fmla="val 566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26883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702552" y="29992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Documentos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heterogêneos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845552" y="2606040"/>
            <a:ext cx="969264" cy="1143000"/>
          </a:xfrm>
          <a:prstGeom prst="roundRect">
            <a:avLst>
              <a:gd name="adj" fmla="val 5660"/>
            </a:avLst>
          </a:prstGeom>
          <a:solidFill>
            <a:srgbClr val="2156D9"/>
          </a:solidFill>
          <a:ln w="12700">
            <a:solidFill>
              <a:srgbClr val="2156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165592" y="26883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18704" y="29992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Parsing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híbrido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061704" y="2606040"/>
            <a:ext cx="969264" cy="1143000"/>
          </a:xfrm>
          <a:prstGeom prst="roundRect">
            <a:avLst>
              <a:gd name="adj" fmla="val 5660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81744" y="26883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34856" y="29992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Regras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canônicas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0277856" y="2606040"/>
            <a:ext cx="969264" cy="1143000"/>
          </a:xfrm>
          <a:prstGeom prst="roundRect">
            <a:avLst>
              <a:gd name="adj" fmla="val 5660"/>
            </a:avLst>
          </a:prstGeom>
          <a:solidFill>
            <a:srgbClr val="16A4A8"/>
          </a:solidFill>
          <a:ln w="12700">
            <a:solidFill>
              <a:srgbClr val="16A4A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97896" y="2688336"/>
            <a:ext cx="320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51008" y="299923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Consulta +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simulação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29400" y="164592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156D9"/>
                </a:solidFill>
              </a:rPr>
              <a:t>Tese central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629400" y="1883664"/>
            <a:ext cx="4663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680" b="1" dirty="0">
                <a:solidFill>
                  <a:srgbClr val="1B1F28"/>
                </a:solidFill>
              </a:rPr>
              <a:t>O maior risco não está no OCR. Está em perder a semântica de “qualificação da taxa” ao achatar regras em linhas soltas.</a:t>
            </a:r>
            <a:endParaRPr lang="en-US" sz="1680" dirty="0"/>
          </a:p>
        </p:txBody>
      </p:sp>
      <p:sp>
        <p:nvSpPr>
          <p:cNvPr id="24" name="Text 22"/>
          <p:cNvSpPr/>
          <p:nvPr/>
        </p:nvSpPr>
        <p:spPr>
          <a:xfrm>
            <a:off x="6629400" y="431596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372"/>
                </a:solidFill>
              </a:rPr>
              <a:t>Por isso, a arquitetura proposta separa: documento, condição, componente da tarifa, resultado, vigência, exceção e evidência de origem.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5285232"/>
            <a:ext cx="2011680" cy="274320"/>
          </a:xfrm>
          <a:prstGeom prst="roundRect">
            <a:avLst>
              <a:gd name="adj" fmla="val 20000"/>
            </a:avLst>
          </a:prstGeom>
          <a:solidFill>
            <a:srgbClr val="EAF0FF"/>
          </a:solidFill>
          <a:ln>
            <a:solidFill>
              <a:srgbClr val="EAF0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156D9"/>
                </a:solidFill>
              </a:rPr>
              <a:t>Rastreabilidade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796528" y="5285232"/>
            <a:ext cx="1737360" cy="274320"/>
          </a:xfrm>
          <a:prstGeom prst="roundRect">
            <a:avLst>
              <a:gd name="adj" fmla="val 20000"/>
            </a:avLst>
          </a:prstGeom>
          <a:solidFill>
            <a:srgbClr val="FFF2E5"/>
          </a:solidFill>
          <a:ln>
            <a:solidFill>
              <a:srgbClr val="FFF2E5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8A00"/>
                </a:solidFill>
              </a:rPr>
              <a:t>Versionamento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0652760" y="5285232"/>
            <a:ext cx="685800" cy="274320"/>
          </a:xfrm>
          <a:prstGeom prst="roundRect">
            <a:avLst>
              <a:gd name="adj" fmla="val 20000"/>
            </a:avLst>
          </a:prstGeom>
          <a:solidFill>
            <a:srgbClr val="E8F7F7"/>
          </a:solidFill>
          <a:ln>
            <a:solidFill>
              <a:srgbClr val="E8F7F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6A4A8"/>
                </a:solidFill>
              </a:rPr>
              <a:t>QA</a:t>
            </a:r>
            <a:endParaRPr lang="en-US" sz="10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Base analisada e </a:t>
            </a:r>
            <a:r>
              <a:rPr lang="pt-BR" sz="2450" b="1" dirty="0" smtClean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limite</a:t>
            </a:r>
            <a:r>
              <a:rPr lang="en-US" sz="2450" b="1" dirty="0" smtClean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do </a:t>
            </a: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estudo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proposta foi construída sobre materiais públicos e exemplos concretos extraídos deles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 descr="/mnt/data/case_assets/crops/mc_credit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796491"/>
            <a:ext cx="2231136" cy="28261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498348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Mastercard Brasil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04672" y="52303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Grade explícita por programa, nível e parcelamento.</a:t>
            </a:r>
            <a:endParaRPr lang="en-US" sz="1060" dirty="0"/>
          </a:p>
        </p:txBody>
      </p:sp>
      <p:sp>
        <p:nvSpPr>
          <p:cNvPr id="8" name="Shape 5"/>
          <p:cNvSpPr/>
          <p:nvPr/>
        </p:nvSpPr>
        <p:spPr>
          <a:xfrm>
            <a:off x="3520440" y="141732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1" descr="/mnt/data/case_assets/crops/visa_methodolog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8456" y="1925235"/>
            <a:ext cx="2231136" cy="25686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66744" y="498348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Visa - Cap. 19 Tarifas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666744" y="52303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Metodologia pública e dimensões da tarifa doméstica.</a:t>
            </a:r>
            <a:endParaRPr lang="en-US" sz="1060" dirty="0"/>
          </a:p>
        </p:txBody>
      </p:sp>
      <p:sp>
        <p:nvSpPr>
          <p:cNvPr id="12" name="Shape 8"/>
          <p:cNvSpPr/>
          <p:nvPr/>
        </p:nvSpPr>
        <p:spPr>
          <a:xfrm>
            <a:off x="6382512" y="1417320"/>
            <a:ext cx="2487168" cy="443484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3" name="Image 2" descr="/mnt/data/case_assets/crops/visa_prepaid_new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867235"/>
            <a:ext cx="2231136" cy="268461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28816" y="498348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Visa Business News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528816" y="523036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Exemplo público de alteração de pré-pago por segmento.</a:t>
            </a:r>
            <a:endParaRPr lang="en-US" sz="1060" dirty="0"/>
          </a:p>
        </p:txBody>
      </p:sp>
      <p:sp>
        <p:nvSpPr>
          <p:cNvPr id="16" name="Shape 11"/>
          <p:cNvSpPr/>
          <p:nvPr/>
        </p:nvSpPr>
        <p:spPr>
          <a:xfrm>
            <a:off x="9189720" y="1417320"/>
            <a:ext cx="2862072" cy="4434840"/>
          </a:xfrm>
          <a:prstGeom prst="roundRect">
            <a:avLst>
              <a:gd name="adj" fmla="val 3101"/>
            </a:avLst>
          </a:prstGeom>
          <a:solidFill>
            <a:srgbClr val="FBFC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2"/>
          <p:cNvSpPr/>
          <p:nvPr/>
        </p:nvSpPr>
        <p:spPr>
          <a:xfrm>
            <a:off x="9418320" y="1645219"/>
            <a:ext cx="243280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O que isso significa na prática</a:t>
            </a:r>
            <a:endParaRPr lang="en-US" sz="1320" dirty="0"/>
          </a:p>
        </p:txBody>
      </p:sp>
      <p:sp>
        <p:nvSpPr>
          <p:cNvPr id="18" name="Text 13"/>
          <p:cNvSpPr/>
          <p:nvPr/>
        </p:nvSpPr>
        <p:spPr>
          <a:xfrm>
            <a:off x="9189720" y="2269824"/>
            <a:ext cx="2862072" cy="24780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64084" indent="-164084">
              <a:buSzPct val="100000"/>
              <a:buChar char="•"/>
            </a:pPr>
            <a:r>
              <a:rPr lang="en-US" sz="15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Há material público suficiente para inferir taxonomia, estrutura e exceções típicas.</a:t>
            </a:r>
            <a:endParaRPr lang="en-US" sz="1520" dirty="0"/>
          </a:p>
          <a:p>
            <a:pPr marL="164084" indent="-164084">
              <a:buSzPct val="100000"/>
              <a:buChar char="•"/>
            </a:pPr>
            <a:r>
              <a:rPr lang="en-US" sz="15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do detalhe operacional da Visa aponta para guias IRF domésticos hospedados no Visa Online, sugerindo conteúdo adicional restrito.</a:t>
            </a:r>
            <a:endParaRPr lang="en-US" sz="1520" dirty="0"/>
          </a:p>
          <a:p>
            <a:pPr marL="164084" indent="-164084">
              <a:buSzPct val="100000"/>
              <a:buChar char="•"/>
            </a:pPr>
            <a:r>
              <a:rPr lang="en-US" sz="152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Logo, a solução proposta foi desenhada para trabalhar com documentos incompletos, versões divergentes e mudanças futuras.</a:t>
            </a:r>
            <a:endParaRPr lang="en-US" sz="1520" dirty="0"/>
          </a:p>
        </p:txBody>
      </p:sp>
      <p:sp>
        <p:nvSpPr>
          <p:cNvPr id="19" name="Shape 14"/>
          <p:cNvSpPr/>
          <p:nvPr/>
        </p:nvSpPr>
        <p:spPr>
          <a:xfrm>
            <a:off x="9372600" y="5036234"/>
            <a:ext cx="2679192" cy="725186"/>
          </a:xfrm>
          <a:prstGeom prst="roundRect">
            <a:avLst>
              <a:gd name="adj" fmla="val 6316"/>
            </a:avLst>
          </a:prstGeom>
          <a:solidFill>
            <a:srgbClr val="FFF2E5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491471" y="5239162"/>
            <a:ext cx="235965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</a:rPr>
              <a:t>Decisão de projeto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</a:rPr>
              <a:t>base = fatos públicos</a:t>
            </a:r>
            <a:endParaRPr lang="en-US" sz="1260" dirty="0"/>
          </a:p>
          <a:p>
            <a:pPr marL="0" indent="0" algn="ctr">
              <a:buNone/>
            </a:pPr>
            <a:r>
              <a:rPr lang="en-US" sz="1260" b="1" dirty="0">
                <a:solidFill>
                  <a:srgbClr val="0B1F3A"/>
                </a:solidFill>
              </a:rPr>
              <a:t>parser = robusto a lacunas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Análise exploratória: as duas bandeiras organizam a regra de formas diferentes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846873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Essa diferença muda completamente a estratégia de extração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2373927" y="5845127"/>
            <a:ext cx="502920" cy="0"/>
          </a:xfrm>
          <a:prstGeom prst="line">
            <a:avLst/>
          </a:prstGeom>
          <a:noFill/>
          <a:ln w="27940">
            <a:solidFill>
              <a:srgbClr val="2156D9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3407199" y="5845127"/>
            <a:ext cx="502920" cy="0"/>
          </a:xfrm>
          <a:prstGeom prst="line">
            <a:avLst/>
          </a:prstGeom>
          <a:noFill/>
          <a:ln w="27940">
            <a:solidFill>
              <a:srgbClr val="2156D9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4440471" y="5845127"/>
            <a:ext cx="502920" cy="0"/>
          </a:xfrm>
          <a:prstGeom prst="line">
            <a:avLst/>
          </a:prstGeom>
          <a:noFill/>
          <a:ln w="27940">
            <a:solidFill>
              <a:srgbClr val="2156D9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8229600" y="5880299"/>
            <a:ext cx="411480" cy="0"/>
          </a:xfrm>
          <a:prstGeom prst="line">
            <a:avLst/>
          </a:prstGeom>
          <a:noFill/>
          <a:ln w="2794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98280" y="5880299"/>
            <a:ext cx="411480" cy="0"/>
          </a:xfrm>
          <a:prstGeom prst="line">
            <a:avLst/>
          </a:prstGeom>
          <a:noFill/>
          <a:ln w="27940">
            <a:solidFill>
              <a:srgbClr val="FF8A00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58368" y="1048041"/>
            <a:ext cx="5349240" cy="5261319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77824" y="1152845"/>
            <a:ext cx="1005840" cy="256032"/>
          </a:xfrm>
          <a:prstGeom prst="roundRect">
            <a:avLst>
              <a:gd name="adj" fmla="val 21429"/>
            </a:avLst>
          </a:prstGeom>
          <a:solidFill>
            <a:srgbClr val="2156D9"/>
          </a:solidFill>
          <a:ln>
            <a:solidFill>
              <a:srgbClr val="2156D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VISA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81888" y="1088136"/>
            <a:ext cx="294436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Modelo composicional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949221" y="1411513"/>
            <a:ext cx="4555822" cy="305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372"/>
                </a:solidFill>
              </a:rPr>
              <a:t>A taxa final é montada a partir de componentes e ajustes.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1230927" y="5525087"/>
            <a:ext cx="822960" cy="658368"/>
          </a:xfrm>
          <a:prstGeom prst="roundRect">
            <a:avLst>
              <a:gd name="adj" fmla="val 6944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5791" y="5689679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Base por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produto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2282487" y="5525087"/>
            <a:ext cx="822960" cy="658368"/>
          </a:xfrm>
          <a:prstGeom prst="roundRect">
            <a:avLst>
              <a:gd name="adj" fmla="val 6944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337351" y="5689679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Ajuste por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segmento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3315759" y="5525087"/>
            <a:ext cx="822960" cy="658368"/>
          </a:xfrm>
          <a:prstGeom prst="roundRect">
            <a:avLst>
              <a:gd name="adj" fmla="val 6944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70623" y="5689679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Captura /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autenticação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4349031" y="5525087"/>
            <a:ext cx="822960" cy="658368"/>
          </a:xfrm>
          <a:prstGeom prst="roundRect">
            <a:avLst>
              <a:gd name="adj" fmla="val 6944"/>
            </a:avLst>
          </a:prstGeom>
          <a:solidFill>
            <a:srgbClr val="EFF2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03895" y="5689679"/>
            <a:ext cx="7132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Parcelado /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qualidade</a:t>
            </a:r>
            <a:endParaRPr lang="en-US" sz="1120" dirty="0"/>
          </a:p>
        </p:txBody>
      </p:sp>
      <p:pic>
        <p:nvPicPr>
          <p:cNvPr id="21" name="Image 0" descr="/mnt/data/case_assets/crops/visa_adjustments.png"/>
          <p:cNvPicPr>
            <a:picLocks noChangeAspect="1"/>
          </p:cNvPicPr>
          <p:nvPr/>
        </p:nvPicPr>
        <p:blipFill rotWithShape="1">
          <a:blip r:embed="rId3"/>
          <a:srcRect l="4222" t="1740" r="2072" b="11625"/>
          <a:stretch/>
        </p:blipFill>
        <p:spPr>
          <a:xfrm>
            <a:off x="669740" y="1669133"/>
            <a:ext cx="5255571" cy="3855954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6199632" y="1048041"/>
            <a:ext cx="5349240" cy="5261319"/>
          </a:xfrm>
          <a:prstGeom prst="roundRect">
            <a:avLst>
              <a:gd name="adj" fmla="val 1468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98461" y="1239012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B1F3A"/>
                </a:solidFill>
              </a:rPr>
              <a:t>MASTERCARD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814610" y="1239715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50" b="1" dirty="0">
                <a:solidFill>
                  <a:srgbClr val="0B1F3A"/>
                </a:solidFill>
              </a:rPr>
              <a:t>Modelo tabular</a:t>
            </a:r>
            <a:endParaRPr lang="en-US" sz="1850" dirty="0"/>
          </a:p>
        </p:txBody>
      </p:sp>
      <p:sp>
        <p:nvSpPr>
          <p:cNvPr id="25" name="Text 22"/>
          <p:cNvSpPr/>
          <p:nvPr/>
        </p:nvSpPr>
        <p:spPr>
          <a:xfrm>
            <a:off x="6419088" y="1529154"/>
            <a:ext cx="5129784" cy="299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dirty="0">
                <a:solidFill>
                  <a:srgbClr val="5B6372"/>
                </a:solidFill>
              </a:rPr>
              <a:t>A regra já aparece como grade quase pronta para normalização.</a:t>
            </a:r>
            <a:endParaRPr lang="en-US" sz="1180" dirty="0"/>
          </a:p>
        </p:txBody>
      </p:sp>
      <p:pic>
        <p:nvPicPr>
          <p:cNvPr id="26" name="Image 1" descr="/mnt/data/case_assets/crops/mc_credit_table.png"/>
          <p:cNvPicPr>
            <a:picLocks noChangeAspect="1"/>
          </p:cNvPicPr>
          <p:nvPr/>
        </p:nvPicPr>
        <p:blipFill rotWithShape="1">
          <a:blip r:embed="rId4"/>
          <a:srcRect t="2474" r="9254" b="32758"/>
          <a:stretch/>
        </p:blipFill>
        <p:spPr>
          <a:xfrm>
            <a:off x="6613214" y="1784563"/>
            <a:ext cx="4560754" cy="3666676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6537960" y="5560259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611112" y="5724851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Programa /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segmento</a:t>
            </a:r>
            <a:endParaRPr lang="en-US" sz="1120" dirty="0"/>
          </a:p>
        </p:txBody>
      </p:sp>
      <p:sp>
        <p:nvSpPr>
          <p:cNvPr id="29" name="Shape 25"/>
          <p:cNvSpPr/>
          <p:nvPr/>
        </p:nvSpPr>
        <p:spPr>
          <a:xfrm>
            <a:off x="7909560" y="5560259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7982712" y="5724851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Bucket de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parcelamento</a:t>
            </a:r>
            <a:endParaRPr lang="en-US" sz="1120" dirty="0"/>
          </a:p>
        </p:txBody>
      </p:sp>
      <p:sp>
        <p:nvSpPr>
          <p:cNvPr id="31" name="Shape 27"/>
          <p:cNvSpPr/>
          <p:nvPr/>
        </p:nvSpPr>
        <p:spPr>
          <a:xfrm>
            <a:off x="9235440" y="5560259"/>
            <a:ext cx="1078992" cy="658368"/>
          </a:xfrm>
          <a:prstGeom prst="roundRect">
            <a:avLst>
              <a:gd name="adj" fmla="val 6944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308592" y="5724851"/>
            <a:ext cx="9326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Taxa</a:t>
            </a:r>
            <a:endParaRPr lang="en-US" sz="1120" dirty="0"/>
          </a:p>
          <a:p>
            <a:pPr marL="0" indent="0" algn="ctr">
              <a:buNone/>
            </a:pPr>
            <a:r>
              <a:rPr lang="en-US" sz="1120" b="1" dirty="0">
                <a:solidFill>
                  <a:srgbClr val="1B1F28"/>
                </a:solidFill>
              </a:rPr>
              <a:t>explícita</a:t>
            </a:r>
            <a:endParaRPr lang="en-US" sz="1120" dirty="0"/>
          </a:p>
        </p:txBody>
      </p:sp>
      <p:sp>
        <p:nvSpPr>
          <p:cNvPr id="33" name="Shape 29"/>
          <p:cNvSpPr/>
          <p:nvPr/>
        </p:nvSpPr>
        <p:spPr>
          <a:xfrm>
            <a:off x="10387584" y="5560259"/>
            <a:ext cx="822960" cy="658368"/>
          </a:xfrm>
          <a:prstGeom prst="roundRect">
            <a:avLst>
              <a:gd name="adj" fmla="val 6944"/>
            </a:avLst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10424160" y="5724851"/>
            <a:ext cx="7498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Linha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canônica</a:t>
            </a:r>
            <a:endParaRPr lang="en-US" sz="105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Principais achados para as perguntas-guia do case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Exemplos públicos usados apenas como evidência exploratória e desenho da taxonomia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21792" y="132588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1572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Mastercard - efeito do parcelamento em programas públicos</a:t>
            </a:r>
            <a:endParaRPr lang="en-US" sz="132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68680" y="1920240"/>
          <a:ext cx="498348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355080" y="1325880"/>
            <a:ext cx="521208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57276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Visa - exemplo público de alteração em pré-pago CP (2022)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6583680" y="1965960"/>
            <a:ext cx="2331720" cy="310896"/>
          </a:xfrm>
          <a:prstGeom prst="rect">
            <a:avLst/>
          </a:prstGeom>
          <a:solidFill>
            <a:srgbClr val="0B1F3A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29400" y="202082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</a:rPr>
              <a:t>Segmento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915400" y="1965960"/>
            <a:ext cx="1051560" cy="310896"/>
          </a:xfrm>
          <a:prstGeom prst="rect">
            <a:avLst/>
          </a:prstGeom>
          <a:solidFill>
            <a:srgbClr val="0B1F3A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0" y="20208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Vigente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966960" y="1965960"/>
            <a:ext cx="1051560" cy="310896"/>
          </a:xfrm>
          <a:prstGeom prst="rect">
            <a:avLst/>
          </a:prstGeom>
          <a:solidFill>
            <a:srgbClr val="0B1F3A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12680" y="20208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Nova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583680" y="2276856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235000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B1F28"/>
                </a:solidFill>
              </a:rPr>
              <a:t>Supermercados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915400" y="2276856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0" y="23500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1F28"/>
                </a:solidFill>
              </a:rPr>
              <a:t>1,20%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9966960" y="2276856"/>
            <a:ext cx="1051560" cy="393192"/>
          </a:xfrm>
          <a:prstGeom prst="rect">
            <a:avLst/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12680" y="23500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E8B57"/>
                </a:solidFill>
              </a:rPr>
              <a:t>0,55%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6583680" y="2670048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629400" y="2743200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B1F28"/>
                </a:solidFill>
              </a:rPr>
              <a:t>Postos/Depto/Farmácias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8915400" y="2670048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961120" y="2743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1F28"/>
                </a:solidFill>
              </a:rPr>
              <a:t>1,20%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9966960" y="2670048"/>
            <a:ext cx="1051560" cy="393192"/>
          </a:xfrm>
          <a:prstGeom prst="rect">
            <a:avLst/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012680" y="274320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E8B57"/>
                </a:solidFill>
              </a:rPr>
              <a:t>0,55%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6583680" y="3063240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629400" y="3136392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B1F28"/>
                </a:solidFill>
              </a:rPr>
              <a:t>Mercados Emergentes 1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8915400" y="3063240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961120" y="31363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1F28"/>
                </a:solidFill>
              </a:rPr>
              <a:t>1,20%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9966960" y="3063240"/>
            <a:ext cx="1051560" cy="393192"/>
          </a:xfrm>
          <a:prstGeom prst="rect">
            <a:avLst/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012680" y="31363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E8B57"/>
                </a:solidFill>
              </a:rPr>
              <a:t>0,55%</a:t>
            </a:r>
            <a:endParaRPr lang="en-US" sz="1080" dirty="0"/>
          </a:p>
        </p:txBody>
      </p:sp>
      <p:sp>
        <p:nvSpPr>
          <p:cNvPr id="33" name="Shape 30"/>
          <p:cNvSpPr/>
          <p:nvPr/>
        </p:nvSpPr>
        <p:spPr>
          <a:xfrm>
            <a:off x="6583680" y="3456432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29400" y="3529584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B1F28"/>
                </a:solidFill>
              </a:rPr>
              <a:t>Mercados Emergentes 3</a:t>
            </a:r>
            <a:endParaRPr lang="en-US" sz="1080" dirty="0"/>
          </a:p>
        </p:txBody>
      </p:sp>
      <p:sp>
        <p:nvSpPr>
          <p:cNvPr id="35" name="Shape 32"/>
          <p:cNvSpPr/>
          <p:nvPr/>
        </p:nvSpPr>
        <p:spPr>
          <a:xfrm>
            <a:off x="8915400" y="3456432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961120" y="35295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1F28"/>
                </a:solidFill>
              </a:rPr>
              <a:t>1,20%</a:t>
            </a:r>
            <a:endParaRPr lang="en-US" sz="1080" dirty="0"/>
          </a:p>
        </p:txBody>
      </p:sp>
      <p:sp>
        <p:nvSpPr>
          <p:cNvPr id="37" name="Shape 34"/>
          <p:cNvSpPr/>
          <p:nvPr/>
        </p:nvSpPr>
        <p:spPr>
          <a:xfrm>
            <a:off x="9966960" y="3456432"/>
            <a:ext cx="1051560" cy="393192"/>
          </a:xfrm>
          <a:prstGeom prst="rect">
            <a:avLst/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012680" y="352958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E8B57"/>
                </a:solidFill>
              </a:rPr>
              <a:t>0,65%</a:t>
            </a:r>
            <a:endParaRPr lang="en-US" sz="1080" dirty="0"/>
          </a:p>
        </p:txBody>
      </p:sp>
      <p:sp>
        <p:nvSpPr>
          <p:cNvPr id="39" name="Shape 36"/>
          <p:cNvSpPr/>
          <p:nvPr/>
        </p:nvSpPr>
        <p:spPr>
          <a:xfrm>
            <a:off x="6583680" y="3849624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629400" y="3922776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B1F28"/>
                </a:solidFill>
              </a:rPr>
              <a:t>Turismo/Telemarketing</a:t>
            </a:r>
            <a:endParaRPr lang="en-US" sz="1080" dirty="0"/>
          </a:p>
        </p:txBody>
      </p:sp>
      <p:sp>
        <p:nvSpPr>
          <p:cNvPr id="41" name="Shape 38"/>
          <p:cNvSpPr/>
          <p:nvPr/>
        </p:nvSpPr>
        <p:spPr>
          <a:xfrm>
            <a:off x="8915400" y="3849624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961120" y="39227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1F28"/>
                </a:solidFill>
              </a:rPr>
              <a:t>1,20%</a:t>
            </a:r>
            <a:endParaRPr lang="en-US" sz="1080" dirty="0"/>
          </a:p>
        </p:txBody>
      </p:sp>
      <p:sp>
        <p:nvSpPr>
          <p:cNvPr id="43" name="Shape 40"/>
          <p:cNvSpPr/>
          <p:nvPr/>
        </p:nvSpPr>
        <p:spPr>
          <a:xfrm>
            <a:off x="9966960" y="3849624"/>
            <a:ext cx="1051560" cy="393192"/>
          </a:xfrm>
          <a:prstGeom prst="rect">
            <a:avLst/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012680" y="39227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E8B57"/>
                </a:solidFill>
              </a:rPr>
              <a:t>0,80%</a:t>
            </a:r>
            <a:endParaRPr lang="en-US" sz="1080" dirty="0"/>
          </a:p>
        </p:txBody>
      </p:sp>
      <p:sp>
        <p:nvSpPr>
          <p:cNvPr id="45" name="Shape 42"/>
          <p:cNvSpPr/>
          <p:nvPr/>
        </p:nvSpPr>
        <p:spPr>
          <a:xfrm>
            <a:off x="6583680" y="4242816"/>
            <a:ext cx="233172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629400" y="4315968"/>
            <a:ext cx="2240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dirty="0">
                <a:solidFill>
                  <a:srgbClr val="1B1F28"/>
                </a:solidFill>
              </a:rPr>
              <a:t>Outros comerciantes</a:t>
            </a:r>
            <a:endParaRPr lang="en-US" sz="1080" dirty="0"/>
          </a:p>
        </p:txBody>
      </p:sp>
      <p:sp>
        <p:nvSpPr>
          <p:cNvPr id="47" name="Shape 44"/>
          <p:cNvSpPr/>
          <p:nvPr/>
        </p:nvSpPr>
        <p:spPr>
          <a:xfrm>
            <a:off x="8915400" y="4242816"/>
            <a:ext cx="1051560" cy="39319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961120" y="43159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1B1F28"/>
                </a:solidFill>
              </a:rPr>
              <a:t>1,20%</a:t>
            </a:r>
            <a:endParaRPr lang="en-US" sz="1080" dirty="0"/>
          </a:p>
        </p:txBody>
      </p:sp>
      <p:sp>
        <p:nvSpPr>
          <p:cNvPr id="49" name="Shape 46"/>
          <p:cNvSpPr/>
          <p:nvPr/>
        </p:nvSpPr>
        <p:spPr>
          <a:xfrm>
            <a:off x="9966960" y="4242816"/>
            <a:ext cx="1051560" cy="393192"/>
          </a:xfrm>
          <a:prstGeom prst="rect">
            <a:avLst/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012680" y="431596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dirty="0">
                <a:solidFill>
                  <a:srgbClr val="2E8B57"/>
                </a:solidFill>
              </a:rPr>
              <a:t>0,70%</a:t>
            </a:r>
            <a:endParaRPr lang="en-US" sz="1080" dirty="0"/>
          </a:p>
        </p:txBody>
      </p:sp>
      <p:sp>
        <p:nvSpPr>
          <p:cNvPr id="51" name="Shape 48"/>
          <p:cNvSpPr/>
          <p:nvPr/>
        </p:nvSpPr>
        <p:spPr>
          <a:xfrm>
            <a:off x="841248" y="5650992"/>
            <a:ext cx="10378440" cy="402336"/>
          </a:xfrm>
          <a:prstGeom prst="roundRect">
            <a:avLst>
              <a:gd name="adj" fmla="val 9091"/>
            </a:avLst>
          </a:prstGeom>
          <a:solidFill>
            <a:srgbClr val="EEF3FF"/>
          </a:solidFill>
          <a:ln w="12700">
            <a:solidFill>
              <a:srgbClr val="C7D6FF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1005840" y="5760720"/>
            <a:ext cx="10012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0B1F3A"/>
                </a:solidFill>
              </a:rPr>
              <a:t>Contexto regulatório brasileiro: o BCB informou teto máximo de 0,5% para débito e 0,7% para pré-pago, aplicável a qualquer transação a partir de 1/4/2023.</a:t>
            </a:r>
            <a:endParaRPr lang="en-US" sz="1230" dirty="0"/>
          </a:p>
        </p:txBody>
      </p:sp>
      <p:sp>
        <p:nvSpPr>
          <p:cNvPr id="5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exatamente precisa ser extraído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estrutura alvo deve preservar contexto, condição, cálculo e evidência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58368" y="1508760"/>
            <a:ext cx="1883664" cy="4315968"/>
          </a:xfrm>
          <a:prstGeom prst="roundRect">
            <a:avLst>
              <a:gd name="adj" fmla="val 3883"/>
            </a:avLst>
          </a:prstGeom>
          <a:solidFill>
            <a:srgbClr val="EFF2F7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00784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709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25296" y="1709928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Documento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59536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bandeira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859536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país/moeda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859536" y="3374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vigência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859536" y="3941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versão</a:t>
            </a:r>
            <a:endParaRPr lang="en-US" sz="1320" dirty="0"/>
          </a:p>
        </p:txBody>
      </p:sp>
      <p:sp>
        <p:nvSpPr>
          <p:cNvPr id="12" name="Text 10"/>
          <p:cNvSpPr/>
          <p:nvPr/>
        </p:nvSpPr>
        <p:spPr>
          <a:xfrm>
            <a:off x="859536" y="45079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página/trecho</a:t>
            </a:r>
            <a:endParaRPr lang="en-US" sz="1320" dirty="0"/>
          </a:p>
        </p:txBody>
      </p:sp>
      <p:sp>
        <p:nvSpPr>
          <p:cNvPr id="13" name="Shape 11"/>
          <p:cNvSpPr/>
          <p:nvPr/>
        </p:nvSpPr>
        <p:spPr>
          <a:xfrm>
            <a:off x="2907792" y="1508760"/>
            <a:ext cx="1883664" cy="4315968"/>
          </a:xfrm>
          <a:prstGeom prst="roundRect">
            <a:avLst>
              <a:gd name="adj" fmla="val 3883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054096" y="1700784"/>
            <a:ext cx="347472" cy="347472"/>
          </a:xfrm>
          <a:prstGeom prst="ellipse">
            <a:avLst/>
          </a:prstGeom>
          <a:solidFill>
            <a:srgbClr val="2156D9"/>
          </a:solidFill>
          <a:ln w="12700">
            <a:solidFill>
              <a:srgbClr val="215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54096" y="1709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74720" y="1709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Produto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08960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crédito/débito/pré-pago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3108960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consumidor/comercial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3108960" y="3374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produto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3108960" y="3941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PF/PJ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3108960" y="45079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BIN/programa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5157216" y="1508760"/>
            <a:ext cx="1883664" cy="4315968"/>
          </a:xfrm>
          <a:prstGeom prst="roundRect">
            <a:avLst>
              <a:gd name="adj" fmla="val 3883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303520" y="1700784"/>
            <a:ext cx="347472" cy="347472"/>
          </a:xfrm>
          <a:prstGeom prst="ellipse">
            <a:avLst/>
          </a:prstGeom>
          <a:solidFill>
            <a:srgbClr val="16A4A8"/>
          </a:solidFill>
          <a:ln w="12700">
            <a:solidFill>
              <a:srgbClr val="16A4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0" y="1709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724144" y="1709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Comércio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358384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MCC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5358384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segmento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358384" y="3374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governo</a:t>
            </a:r>
            <a:endParaRPr lang="en-US" sz="1320" dirty="0"/>
          </a:p>
        </p:txBody>
      </p:sp>
      <p:sp>
        <p:nvSpPr>
          <p:cNvPr id="29" name="Text 27"/>
          <p:cNvSpPr/>
          <p:nvPr/>
        </p:nvSpPr>
        <p:spPr>
          <a:xfrm>
            <a:off x="5358384" y="3941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atacado/varejo</a:t>
            </a:r>
            <a:endParaRPr lang="en-US" sz="1320" dirty="0"/>
          </a:p>
        </p:txBody>
      </p:sp>
      <p:sp>
        <p:nvSpPr>
          <p:cNvPr id="30" name="Text 28"/>
          <p:cNvSpPr/>
          <p:nvPr/>
        </p:nvSpPr>
        <p:spPr>
          <a:xfrm>
            <a:off x="5358384" y="45079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subsegmento</a:t>
            </a:r>
            <a:endParaRPr lang="en-US" sz="1320" dirty="0"/>
          </a:p>
        </p:txBody>
      </p:sp>
      <p:sp>
        <p:nvSpPr>
          <p:cNvPr id="31" name="Shape 29"/>
          <p:cNvSpPr/>
          <p:nvPr/>
        </p:nvSpPr>
        <p:spPr>
          <a:xfrm>
            <a:off x="7406640" y="1508760"/>
            <a:ext cx="1883664" cy="4315968"/>
          </a:xfrm>
          <a:prstGeom prst="roundRect">
            <a:avLst>
              <a:gd name="adj" fmla="val 3883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552944" y="1700784"/>
            <a:ext cx="347472" cy="34747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52944" y="1709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973568" y="1709928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Transação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607808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CP/CNP</a:t>
            </a:r>
            <a:endParaRPr lang="en-US" sz="1320" dirty="0"/>
          </a:p>
        </p:txBody>
      </p:sp>
      <p:sp>
        <p:nvSpPr>
          <p:cNvPr id="36" name="Text 34"/>
          <p:cNvSpPr/>
          <p:nvPr/>
        </p:nvSpPr>
        <p:spPr>
          <a:xfrm>
            <a:off x="7607808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autenticação</a:t>
            </a:r>
            <a:endParaRPr lang="en-US" sz="1320" dirty="0"/>
          </a:p>
        </p:txBody>
      </p:sp>
      <p:sp>
        <p:nvSpPr>
          <p:cNvPr id="37" name="Text 35"/>
          <p:cNvSpPr/>
          <p:nvPr/>
        </p:nvSpPr>
        <p:spPr>
          <a:xfrm>
            <a:off x="7607808" y="3374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parcelas</a:t>
            </a:r>
            <a:endParaRPr lang="en-US" sz="1320" dirty="0"/>
          </a:p>
        </p:txBody>
      </p:sp>
      <p:sp>
        <p:nvSpPr>
          <p:cNvPr id="38" name="Text 36"/>
          <p:cNvSpPr/>
          <p:nvPr/>
        </p:nvSpPr>
        <p:spPr>
          <a:xfrm>
            <a:off x="7607808" y="3941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contactless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7607808" y="45079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saque/refund/P2P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9656064" y="1508760"/>
            <a:ext cx="1883664" cy="4315968"/>
          </a:xfrm>
          <a:prstGeom prst="roundRect">
            <a:avLst>
              <a:gd name="adj" fmla="val 3883"/>
            </a:avLst>
          </a:prstGeom>
          <a:solidFill>
            <a:srgbClr val="FDEFF5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802368" y="1700784"/>
            <a:ext cx="347472" cy="347472"/>
          </a:xfrm>
          <a:prstGeom prst="ellipse">
            <a:avLst/>
          </a:prstGeom>
          <a:solidFill>
            <a:srgbClr val="EB001B"/>
          </a:solidFill>
          <a:ln w="12700">
            <a:solidFill>
              <a:srgbClr val="EB001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802368" y="1709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0222992" y="170992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</a:rPr>
              <a:t>Resultado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9857232" y="224028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%</a:t>
            </a:r>
            <a:endParaRPr lang="en-US" sz="1320" dirty="0"/>
          </a:p>
        </p:txBody>
      </p:sp>
      <p:sp>
        <p:nvSpPr>
          <p:cNvPr id="45" name="Text 43"/>
          <p:cNvSpPr/>
          <p:nvPr/>
        </p:nvSpPr>
        <p:spPr>
          <a:xfrm>
            <a:off x="9857232" y="280720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valor fixo</a:t>
            </a:r>
            <a:endParaRPr lang="en-US" sz="1320" dirty="0"/>
          </a:p>
        </p:txBody>
      </p:sp>
      <p:sp>
        <p:nvSpPr>
          <p:cNvPr id="46" name="Text 44"/>
          <p:cNvSpPr/>
          <p:nvPr/>
        </p:nvSpPr>
        <p:spPr>
          <a:xfrm>
            <a:off x="9857232" y="3374136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mínimo/máximo</a:t>
            </a:r>
            <a:endParaRPr lang="en-US" sz="1320" dirty="0"/>
          </a:p>
        </p:txBody>
      </p:sp>
      <p:sp>
        <p:nvSpPr>
          <p:cNvPr id="47" name="Text 45"/>
          <p:cNvSpPr/>
          <p:nvPr/>
        </p:nvSpPr>
        <p:spPr>
          <a:xfrm>
            <a:off x="9857232" y="394106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direção +/-</a:t>
            </a:r>
            <a:endParaRPr lang="en-US" sz="1320" dirty="0"/>
          </a:p>
        </p:txBody>
      </p:sp>
      <p:sp>
        <p:nvSpPr>
          <p:cNvPr id="48" name="Text 46"/>
          <p:cNvSpPr/>
          <p:nvPr/>
        </p:nvSpPr>
        <p:spPr>
          <a:xfrm>
            <a:off x="9857232" y="4507992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1B1F28"/>
                </a:solidFill>
              </a:rPr>
              <a:t>• confiança + fonte</a:t>
            </a:r>
            <a:endParaRPr lang="en-US" sz="1320" dirty="0"/>
          </a:p>
        </p:txBody>
      </p:sp>
      <p:sp>
        <p:nvSpPr>
          <p:cNvPr id="49" name="Shape 47"/>
          <p:cNvSpPr/>
          <p:nvPr/>
        </p:nvSpPr>
        <p:spPr>
          <a:xfrm>
            <a:off x="1508760" y="5925312"/>
            <a:ext cx="9144000" cy="219456"/>
          </a:xfrm>
          <a:prstGeom prst="roundRect">
            <a:avLst>
              <a:gd name="adj" fmla="val 16667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83080" y="5980176"/>
            <a:ext cx="85953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US" sz="1110" b="1" dirty="0">
                <a:solidFill>
                  <a:srgbClr val="FFFFFF"/>
                </a:solidFill>
              </a:rPr>
              <a:t>Se qualquer uma dessas 5 camadas se perder, a simulação fica frágil ou incorreta.</a:t>
            </a:r>
            <a:endParaRPr lang="en-US" sz="111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de dados proposto: orientado a regras versionadas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condição, componente e resultado evita duplicação e simplifica auditoria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2514600" y="2697480"/>
            <a:ext cx="777240" cy="0"/>
          </a:xfrm>
          <a:prstGeom prst="line">
            <a:avLst/>
          </a:prstGeom>
          <a:noFill/>
          <a:ln w="22860">
            <a:solidFill>
              <a:srgbClr val="B9C6DD"/>
            </a:solidFill>
            <a:prstDash val="solid"/>
            <a:tailEnd type="triangle"/>
          </a:ln>
        </p:spPr>
      </p:sp>
      <p:sp>
        <p:nvSpPr>
          <p:cNvPr id="5" name="Shape 3"/>
          <p:cNvSpPr/>
          <p:nvPr/>
        </p:nvSpPr>
        <p:spPr>
          <a:xfrm>
            <a:off x="2514600" y="3675888"/>
            <a:ext cx="777240" cy="0"/>
          </a:xfrm>
          <a:prstGeom prst="line">
            <a:avLst/>
          </a:prstGeom>
          <a:noFill/>
          <a:ln w="22860">
            <a:solidFill>
              <a:srgbClr val="B9C6DD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514600" y="4654296"/>
            <a:ext cx="777240" cy="0"/>
          </a:xfrm>
          <a:prstGeom prst="line">
            <a:avLst/>
          </a:prstGeom>
          <a:noFill/>
          <a:ln w="22860">
            <a:solidFill>
              <a:srgbClr val="B9C6DD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148072" y="3675888"/>
            <a:ext cx="960120" cy="0"/>
          </a:xfrm>
          <a:prstGeom prst="line">
            <a:avLst/>
          </a:prstGeom>
          <a:noFill/>
          <a:ln w="22860">
            <a:solidFill>
              <a:srgbClr val="B9C6DD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58368" y="1444752"/>
            <a:ext cx="557784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96112" y="1682495"/>
            <a:ext cx="2075688" cy="268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Esquema lógico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96112" y="2103120"/>
            <a:ext cx="1600200" cy="941832"/>
          </a:xfrm>
          <a:prstGeom prst="roundRect">
            <a:avLst>
              <a:gd name="adj" fmla="val 6410"/>
            </a:avLst>
          </a:prstGeom>
          <a:solidFill>
            <a:srgbClr val="EFF2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1136" y="2243328"/>
            <a:ext cx="1615440" cy="278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dim_document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78408" y="2624328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fonte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versão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página/trecho</a:t>
            </a:r>
            <a:endParaRPr lang="en-US" sz="1060" b="1" dirty="0"/>
          </a:p>
        </p:txBody>
      </p:sp>
      <p:sp>
        <p:nvSpPr>
          <p:cNvPr id="13" name="Shape 11"/>
          <p:cNvSpPr/>
          <p:nvPr/>
        </p:nvSpPr>
        <p:spPr>
          <a:xfrm>
            <a:off x="896112" y="3118104"/>
            <a:ext cx="1600200" cy="905256"/>
          </a:xfrm>
          <a:prstGeom prst="roundRect">
            <a:avLst>
              <a:gd name="adj" fmla="val 6410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1136" y="327812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dim_product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78408" y="3602736"/>
            <a:ext cx="1435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família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produto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PF/PJ</a:t>
            </a:r>
            <a:endParaRPr lang="en-US" sz="1060" b="1" dirty="0"/>
          </a:p>
        </p:txBody>
      </p:sp>
      <p:sp>
        <p:nvSpPr>
          <p:cNvPr id="16" name="Shape 14"/>
          <p:cNvSpPr/>
          <p:nvPr/>
        </p:nvSpPr>
        <p:spPr>
          <a:xfrm>
            <a:off x="896112" y="4096512"/>
            <a:ext cx="1600200" cy="905256"/>
          </a:xfrm>
          <a:prstGeom prst="roundRect">
            <a:avLst>
              <a:gd name="adj" fmla="val 6410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992" y="4163568"/>
            <a:ext cx="1757680" cy="207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dim_transaction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78408" y="4370832"/>
            <a:ext cx="143560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1F28"/>
                </a:solidFill>
              </a:rPr>
              <a:t>cp/cnp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F28"/>
                </a:solidFill>
              </a:rPr>
              <a:t>autenticação</a:t>
            </a:r>
            <a:endParaRPr lang="en-US" sz="1100" b="1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B1F28"/>
                </a:solidFill>
              </a:rPr>
              <a:t>parcelas</a:t>
            </a:r>
            <a:endParaRPr lang="en-US" sz="1100" b="1" dirty="0"/>
          </a:p>
        </p:txBody>
      </p:sp>
      <p:sp>
        <p:nvSpPr>
          <p:cNvPr id="19" name="Shape 17"/>
          <p:cNvSpPr/>
          <p:nvPr/>
        </p:nvSpPr>
        <p:spPr>
          <a:xfrm>
            <a:off x="3291840" y="2990088"/>
            <a:ext cx="1874520" cy="1298448"/>
          </a:xfrm>
          <a:prstGeom prst="roundRect">
            <a:avLst>
              <a:gd name="adj" fmla="val 5435"/>
            </a:avLst>
          </a:prstGeom>
          <a:solidFill>
            <a:srgbClr val="F6F9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83280" y="3099816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fact_rule</a:t>
            </a:r>
            <a:endParaRPr lang="en-US" sz="1220" dirty="0"/>
          </a:p>
        </p:txBody>
      </p:sp>
      <p:sp>
        <p:nvSpPr>
          <p:cNvPr id="21" name="Text 19"/>
          <p:cNvSpPr/>
          <p:nvPr/>
        </p:nvSpPr>
        <p:spPr>
          <a:xfrm>
            <a:off x="3374136" y="3538728"/>
            <a:ext cx="1709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network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merchant_segment_id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fee_pct / fee_fixed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effective_from/to</a:t>
            </a:r>
            <a:endParaRPr lang="en-US" sz="1060" b="1" dirty="0"/>
          </a:p>
          <a:p>
            <a:pPr marL="0" indent="0" algn="ctr">
              <a:buNone/>
            </a:pPr>
            <a:r>
              <a:rPr lang="en-US" sz="1060" b="1" dirty="0">
                <a:solidFill>
                  <a:srgbClr val="1B1F28"/>
                </a:solidFill>
              </a:rPr>
              <a:t>confidence</a:t>
            </a:r>
            <a:endParaRPr lang="en-US" sz="1060" b="1" dirty="0"/>
          </a:p>
        </p:txBody>
      </p:sp>
      <p:sp>
        <p:nvSpPr>
          <p:cNvPr id="22" name="Text 20"/>
          <p:cNvSpPr/>
          <p:nvPr/>
        </p:nvSpPr>
        <p:spPr>
          <a:xfrm>
            <a:off x="3456432" y="43708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156D9"/>
                </a:solidFill>
              </a:rPr>
              <a:t>Chave conceitual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971800" y="459028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0B1F3A"/>
                </a:solidFill>
              </a:rPr>
              <a:t>1 regra = uma condição resolvível + um resultado tarifário + uma prova de origem</a:t>
            </a:r>
            <a:endParaRPr lang="en-US" sz="1220" dirty="0"/>
          </a:p>
        </p:txBody>
      </p:sp>
      <p:sp>
        <p:nvSpPr>
          <p:cNvPr id="24" name="Shape 22"/>
          <p:cNvSpPr/>
          <p:nvPr/>
        </p:nvSpPr>
        <p:spPr>
          <a:xfrm>
            <a:off x="6473952" y="1444752"/>
            <a:ext cx="5074920" cy="4663440"/>
          </a:xfrm>
          <a:prstGeom prst="roundRect">
            <a:avLst>
              <a:gd name="adj" fmla="val 1569"/>
            </a:avLst>
          </a:prstGeom>
          <a:solidFill>
            <a:srgbClr val="FBFC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802880" y="1545336"/>
            <a:ext cx="2667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Exemplo</a:t>
            </a:r>
            <a:r>
              <a:rPr lang="en-US" sz="1320" b="1" dirty="0">
                <a:solidFill>
                  <a:srgbClr val="0B1F3A"/>
                </a:solidFill>
              </a:rPr>
              <a:t> de saída canônica</a:t>
            </a:r>
            <a:endParaRPr lang="en-US" sz="1320" dirty="0"/>
          </a:p>
        </p:txBody>
      </p:sp>
      <p:sp>
        <p:nvSpPr>
          <p:cNvPr id="26" name="Text 24"/>
          <p:cNvSpPr/>
          <p:nvPr/>
        </p:nvSpPr>
        <p:spPr>
          <a:xfrm>
            <a:off x="7355840" y="1865376"/>
            <a:ext cx="3571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20" b="1" dirty="0">
                <a:solidFill>
                  <a:srgbClr val="5B6372"/>
                </a:solidFill>
              </a:rPr>
              <a:t>Registro pronto para API, diff entre versões e auditoria.</a:t>
            </a:r>
            <a:endParaRPr lang="en-US" sz="1020" b="1" dirty="0"/>
          </a:p>
        </p:txBody>
      </p:sp>
      <p:sp>
        <p:nvSpPr>
          <p:cNvPr id="27" name="Text 25"/>
          <p:cNvSpPr/>
          <p:nvPr/>
        </p:nvSpPr>
        <p:spPr>
          <a:xfrm>
            <a:off x="6627368" y="2148840"/>
            <a:ext cx="4758944" cy="3474720"/>
          </a:xfrm>
          <a:prstGeom prst="rect">
            <a:avLst/>
          </a:prstGeom>
          <a:solidFill>
            <a:srgbClr val="0D1117"/>
          </a:solidFill>
          <a:ln>
            <a:solidFill>
              <a:srgbClr val="1F2937"/>
            </a:solidFill>
          </a:ln>
        </p:spPr>
        <p:txBody>
          <a:bodyPr wrap="square" lIns="1524" tIns="1524" rIns="1524" bIns="152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"network"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"mastercard"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"country"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"BR"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"product"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"consumer_black"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"merchant_segment"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"outros"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"capture"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"cp"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7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"installment_bucket"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"6_plus"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8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"components"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9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"type"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"explicit_rate"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"pct"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2.14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"effective_from"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"2020-12-22"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"source"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"doc"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"mastercard_br.pdf"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"page"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1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4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"lineage"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"nivel_4/outros"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</a:t>
            </a: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Pipeline técnico proposto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b="1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ingestão documental até a consulta analítica</a:t>
            </a:r>
            <a:endParaRPr lang="en-US" sz="1130" b="1" dirty="0"/>
          </a:p>
        </p:txBody>
      </p:sp>
      <p:sp>
        <p:nvSpPr>
          <p:cNvPr id="4" name="Shape 2"/>
          <p:cNvSpPr/>
          <p:nvPr/>
        </p:nvSpPr>
        <p:spPr>
          <a:xfrm>
            <a:off x="167132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13436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9740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6044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2348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8652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49560" y="2569651"/>
            <a:ext cx="164592" cy="447869"/>
          </a:xfrm>
          <a:prstGeom prst="chevron">
            <a:avLst/>
          </a:prstGeom>
          <a:solidFill>
            <a:srgbClr val="D6DEEF"/>
          </a:solidFill>
          <a:ln w="12700">
            <a:solidFill>
              <a:srgbClr val="D6DEE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44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EFF2F7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39216" y="2208929"/>
            <a:ext cx="384048" cy="470263"/>
          </a:xfrm>
          <a:prstGeom prst="ellipse">
            <a:avLst/>
          </a:prstGeom>
          <a:solidFill>
            <a:srgbClr val="0B1F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21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1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5168" y="2653626"/>
            <a:ext cx="115214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Ingestão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516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PDF / DOC / imagem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checksum + versão</a:t>
            </a:r>
            <a:endParaRPr lang="en-US" sz="1200" b="1" dirty="0"/>
          </a:p>
        </p:txBody>
      </p:sp>
      <p:sp>
        <p:nvSpPr>
          <p:cNvPr id="16" name="Shape 14"/>
          <p:cNvSpPr/>
          <p:nvPr/>
        </p:nvSpPr>
        <p:spPr>
          <a:xfrm>
            <a:off x="180848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EFF2F7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302256" y="2208929"/>
            <a:ext cx="384048" cy="470263"/>
          </a:xfrm>
          <a:prstGeom prst="ellipse">
            <a:avLst/>
          </a:prstGeom>
          <a:solidFill>
            <a:srgbClr val="0B1F3A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0225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2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726184" y="2755889"/>
            <a:ext cx="1591056" cy="296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 err="1" smtClean="0">
                <a:solidFill>
                  <a:srgbClr val="0B1F3A"/>
                </a:solidFill>
              </a:rPr>
              <a:t>Render+layout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1820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OCR fallback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tabela / bloco / cabeçalho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327152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765296" y="2208929"/>
            <a:ext cx="384048" cy="470263"/>
          </a:xfrm>
          <a:prstGeom prst="ellipse">
            <a:avLst/>
          </a:prstGeom>
          <a:solidFill>
            <a:srgbClr val="2156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6529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3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81248" y="2712969"/>
            <a:ext cx="115214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Chunking semântico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38124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preserva página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hierarquia e bbox</a:t>
            </a:r>
            <a:endParaRPr lang="en-US" sz="1200" b="1" dirty="0"/>
          </a:p>
        </p:txBody>
      </p:sp>
      <p:sp>
        <p:nvSpPr>
          <p:cNvPr id="26" name="Shape 24"/>
          <p:cNvSpPr/>
          <p:nvPr/>
        </p:nvSpPr>
        <p:spPr>
          <a:xfrm>
            <a:off x="473456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28336" y="2208929"/>
            <a:ext cx="384048" cy="470263"/>
          </a:xfrm>
          <a:prstGeom prst="ellipse">
            <a:avLst/>
          </a:prstGeom>
          <a:solidFill>
            <a:srgbClr val="2156D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2833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4</a:t>
            </a: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844288" y="2755890"/>
            <a:ext cx="115214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Extração híbrida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4428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regex + parser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+ LLM estruturado</a:t>
            </a:r>
            <a:endParaRPr lang="en-US" sz="1200" b="1" dirty="0"/>
          </a:p>
        </p:txBody>
      </p:sp>
      <p:sp>
        <p:nvSpPr>
          <p:cNvPr id="31" name="Shape 29"/>
          <p:cNvSpPr/>
          <p:nvPr/>
        </p:nvSpPr>
        <p:spPr>
          <a:xfrm>
            <a:off x="619760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691376" y="2208929"/>
            <a:ext cx="384048" cy="470263"/>
          </a:xfrm>
          <a:prstGeom prst="ellipse">
            <a:avLst/>
          </a:prstGeom>
          <a:solidFill>
            <a:srgbClr val="FF8A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137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5</a:t>
            </a: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185408" y="2654290"/>
            <a:ext cx="1371600" cy="3530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Normalização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30732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enums canônicos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+ composição</a:t>
            </a:r>
            <a:endParaRPr lang="en-US" sz="1200" b="1" dirty="0"/>
          </a:p>
        </p:txBody>
      </p:sp>
      <p:sp>
        <p:nvSpPr>
          <p:cNvPr id="36" name="Shape 34"/>
          <p:cNvSpPr/>
          <p:nvPr/>
        </p:nvSpPr>
        <p:spPr>
          <a:xfrm>
            <a:off x="766064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154416" y="2208929"/>
            <a:ext cx="384048" cy="470263"/>
          </a:xfrm>
          <a:prstGeom prst="ellipse">
            <a:avLst/>
          </a:prstGeom>
          <a:solidFill>
            <a:srgbClr val="FF8A00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5441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6</a:t>
            </a: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770368" y="2654290"/>
            <a:ext cx="115214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Validação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77036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conflitos, ranges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min/max, vigência</a:t>
            </a:r>
            <a:endParaRPr lang="en-US" sz="1200" b="1" dirty="0"/>
          </a:p>
        </p:txBody>
      </p:sp>
      <p:sp>
        <p:nvSpPr>
          <p:cNvPr id="41" name="Shape 39"/>
          <p:cNvSpPr/>
          <p:nvPr/>
        </p:nvSpPr>
        <p:spPr>
          <a:xfrm>
            <a:off x="912368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9617456" y="2208929"/>
            <a:ext cx="384048" cy="470263"/>
          </a:xfrm>
          <a:prstGeom prst="ellipse">
            <a:avLst/>
          </a:prstGeom>
          <a:solidFill>
            <a:srgbClr val="16A4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1745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7</a:t>
            </a: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111488" y="2654290"/>
            <a:ext cx="127406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Persistência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923340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Postgres/warehouse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API + lineage</a:t>
            </a:r>
            <a:endParaRPr lang="en-US" sz="1200" b="1" dirty="0"/>
          </a:p>
        </p:txBody>
      </p:sp>
      <p:sp>
        <p:nvSpPr>
          <p:cNvPr id="46" name="Shape 44"/>
          <p:cNvSpPr/>
          <p:nvPr/>
        </p:nvSpPr>
        <p:spPr>
          <a:xfrm>
            <a:off x="10586720" y="1645920"/>
            <a:ext cx="1371600" cy="2743200"/>
          </a:xfrm>
          <a:prstGeom prst="roundRect">
            <a:avLst>
              <a:gd name="adj" fmla="val 5333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11080496" y="2208929"/>
            <a:ext cx="384048" cy="470263"/>
          </a:xfrm>
          <a:prstGeom prst="ellipse">
            <a:avLst/>
          </a:prstGeom>
          <a:solidFill>
            <a:srgbClr val="16A4A8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1080496" y="2271258"/>
            <a:ext cx="384048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8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0696448" y="2633970"/>
            <a:ext cx="1152144" cy="279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F3A"/>
                </a:solidFill>
              </a:rPr>
              <a:t>Consumo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0696448" y="3052603"/>
            <a:ext cx="1152144" cy="80616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dashboard, diff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1F28"/>
                </a:solidFill>
              </a:rPr>
              <a:t>what-if, agente</a:t>
            </a:r>
            <a:endParaRPr lang="en-US" sz="1200" b="1" dirty="0"/>
          </a:p>
        </p:txBody>
      </p:sp>
      <p:sp>
        <p:nvSpPr>
          <p:cNvPr id="51" name="Shape 49"/>
          <p:cNvSpPr/>
          <p:nvPr/>
        </p:nvSpPr>
        <p:spPr>
          <a:xfrm>
            <a:off x="1051560" y="4937760"/>
            <a:ext cx="10104120" cy="685800"/>
          </a:xfrm>
          <a:prstGeom prst="roundRect">
            <a:avLst>
              <a:gd name="adj" fmla="val 6667"/>
            </a:avLst>
          </a:prstGeom>
          <a:solidFill>
            <a:srgbClr val="F4F7FB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34440" y="510235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156D9"/>
                </a:solidFill>
              </a:rPr>
              <a:t>Princípios de implementação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926080" y="5084064"/>
            <a:ext cx="7909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A"/>
                </a:solidFill>
              </a:rPr>
              <a:t>1) LLM não grava direto no banco; gera candidatos estruturados.  2) Toda regra recebe score de confiança.  3) Conflitos e baixa confiança vão para fila humana.  4) Cada registro preserva evidência da origem.</a:t>
            </a:r>
            <a:endParaRPr lang="en-US" sz="12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o agente evolui com segurança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IA com verificações determinísticas reduz erro silencioso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502920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77824" y="166420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Motor de extração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1225296" y="2313432"/>
            <a:ext cx="0" cy="411480"/>
          </a:xfrm>
          <a:prstGeom prst="line">
            <a:avLst/>
          </a:prstGeom>
          <a:noFill/>
          <a:ln w="20320">
            <a:solidFill>
              <a:srgbClr val="C8D4E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417320" y="1965960"/>
            <a:ext cx="3474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2057400"/>
            <a:ext cx="347472" cy="347472"/>
          </a:xfrm>
          <a:prstGeom prst="ellipse">
            <a:avLst/>
          </a:prstGeom>
          <a:solidFill>
            <a:srgbClr val="2156D9"/>
          </a:solidFill>
          <a:ln w="12700">
            <a:solidFill>
              <a:srgbClr val="2156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66544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04112" y="21783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Classificar bloco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810512" y="1984248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6372"/>
                </a:solidFill>
              </a:rPr>
              <a:t>tabela / narrativa / anexo</a:t>
            </a:r>
            <a:endParaRPr lang="en-US" sz="1400" b="1" dirty="0"/>
          </a:p>
        </p:txBody>
      </p:sp>
      <p:sp>
        <p:nvSpPr>
          <p:cNvPr id="12" name="Shape 10"/>
          <p:cNvSpPr/>
          <p:nvPr/>
        </p:nvSpPr>
        <p:spPr>
          <a:xfrm>
            <a:off x="1225296" y="3081528"/>
            <a:ext cx="0" cy="411480"/>
          </a:xfrm>
          <a:prstGeom prst="line">
            <a:avLst/>
          </a:prstGeom>
          <a:noFill/>
          <a:ln w="20320">
            <a:solidFill>
              <a:srgbClr val="C8D4E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2734056"/>
            <a:ext cx="3474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825496"/>
            <a:ext cx="347472" cy="347472"/>
          </a:xfrm>
          <a:prstGeom prst="ellipse">
            <a:avLst/>
          </a:prstGeom>
          <a:solidFill>
            <a:srgbClr val="2156D9"/>
          </a:solidFill>
          <a:ln w="12700">
            <a:solidFill>
              <a:srgbClr val="215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96112" y="2834640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22400" y="29900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Extrair candidatos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810512" y="2752344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6372"/>
                </a:solidFill>
              </a:rPr>
              <a:t>linhas, células, frases e números</a:t>
            </a:r>
            <a:endParaRPr lang="en-US" sz="1050" b="1" dirty="0"/>
          </a:p>
        </p:txBody>
      </p:sp>
      <p:sp>
        <p:nvSpPr>
          <p:cNvPr id="18" name="Shape 16"/>
          <p:cNvSpPr/>
          <p:nvPr/>
        </p:nvSpPr>
        <p:spPr>
          <a:xfrm>
            <a:off x="1225296" y="3849624"/>
            <a:ext cx="0" cy="411480"/>
          </a:xfrm>
          <a:prstGeom prst="line">
            <a:avLst/>
          </a:prstGeom>
          <a:noFill/>
          <a:ln w="20320">
            <a:solidFill>
              <a:srgbClr val="C8D4E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417320" y="3502152"/>
            <a:ext cx="3474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3593592"/>
            <a:ext cx="347472" cy="34747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96112" y="3602736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22400" y="367690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Resolver semântica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73736" y="3438144"/>
            <a:ext cx="4718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5B6372"/>
                </a:solidFill>
              </a:rPr>
              <a:t>mapear segmento, produto e condição</a:t>
            </a:r>
            <a:endParaRPr lang="en-US" sz="1050" b="1" dirty="0"/>
          </a:p>
        </p:txBody>
      </p:sp>
      <p:sp>
        <p:nvSpPr>
          <p:cNvPr id="24" name="Shape 22"/>
          <p:cNvSpPr/>
          <p:nvPr/>
        </p:nvSpPr>
        <p:spPr>
          <a:xfrm>
            <a:off x="1225296" y="4617720"/>
            <a:ext cx="0" cy="411480"/>
          </a:xfrm>
          <a:prstGeom prst="line">
            <a:avLst/>
          </a:prstGeom>
          <a:noFill/>
          <a:ln w="20320">
            <a:solidFill>
              <a:srgbClr val="C8D4E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417320" y="4270248"/>
            <a:ext cx="3474720" cy="530352"/>
          </a:xfrm>
          <a:prstGeom prst="roundRect">
            <a:avLst>
              <a:gd name="adj" fmla="val 8621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6112" y="4361688"/>
            <a:ext cx="347472" cy="347472"/>
          </a:xfrm>
          <a:prstGeom prst="ellipse">
            <a:avLst/>
          </a:prstGeom>
          <a:solidFill>
            <a:srgbClr val="FF8A00"/>
          </a:solidFill>
          <a:ln w="12700">
            <a:solidFill>
              <a:srgbClr val="FF8A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96112" y="4370832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45260" y="44439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Validar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810512" y="4288536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6372"/>
                </a:solidFill>
              </a:rPr>
              <a:t>range, moeda, vigência, sobreposição</a:t>
            </a:r>
            <a:endParaRPr lang="en-US" sz="1200" b="1" dirty="0"/>
          </a:p>
        </p:txBody>
      </p:sp>
      <p:sp>
        <p:nvSpPr>
          <p:cNvPr id="30" name="Shape 28"/>
          <p:cNvSpPr/>
          <p:nvPr/>
        </p:nvSpPr>
        <p:spPr>
          <a:xfrm>
            <a:off x="1225296" y="5385816"/>
            <a:ext cx="0" cy="411480"/>
          </a:xfrm>
          <a:prstGeom prst="line">
            <a:avLst/>
          </a:prstGeom>
          <a:noFill/>
          <a:ln w="20320">
            <a:solidFill>
              <a:srgbClr val="C8D4EA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417320" y="5038344"/>
            <a:ext cx="347472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96112" y="5129784"/>
            <a:ext cx="347472" cy="347472"/>
          </a:xfrm>
          <a:prstGeom prst="ellipse">
            <a:avLst/>
          </a:prstGeom>
          <a:solidFill>
            <a:srgbClr val="16A4A8"/>
          </a:solidFill>
          <a:ln w="12700">
            <a:solidFill>
              <a:srgbClr val="16A4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96112" y="5138928"/>
            <a:ext cx="347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422400" y="519379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</a:rPr>
              <a:t>Decidir rota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810512" y="5056632"/>
            <a:ext cx="3081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B6372"/>
                </a:solidFill>
              </a:rPr>
              <a:t>aprovar, revisar ou reprovar</a:t>
            </a:r>
            <a:endParaRPr lang="en-US" sz="1400" b="1" dirty="0"/>
          </a:p>
        </p:txBody>
      </p:sp>
      <p:sp>
        <p:nvSpPr>
          <p:cNvPr id="36" name="Shape 34"/>
          <p:cNvSpPr/>
          <p:nvPr/>
        </p:nvSpPr>
        <p:spPr>
          <a:xfrm>
            <a:off x="5925312" y="141732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BFC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172200" y="166420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Controles automáticos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6172200" y="2011680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5080" y="210312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B1F28"/>
                </a:solidFill>
              </a:rPr>
              <a:t>Faixa de taxa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8138160" y="218440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372"/>
                </a:solidFill>
              </a:rPr>
              <a:t>0 &lt;= % &lt;= 100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72200" y="2542032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7F9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55080" y="263347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B1F28"/>
                </a:solidFill>
              </a:rPr>
              <a:t>Valor fixo</a:t>
            </a:r>
            <a:endParaRPr lang="en-US" sz="1180" dirty="0"/>
          </a:p>
        </p:txBody>
      </p:sp>
      <p:sp>
        <p:nvSpPr>
          <p:cNvPr id="43" name="Text 41"/>
          <p:cNvSpPr/>
          <p:nvPr/>
        </p:nvSpPr>
        <p:spPr>
          <a:xfrm>
            <a:off x="8138160" y="2633472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372"/>
                </a:solidFill>
              </a:rPr>
              <a:t>moeda obrigatória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172200" y="3072384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55080" y="3163824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B1F28"/>
                </a:solidFill>
              </a:rPr>
              <a:t>Min/Max</a:t>
            </a:r>
            <a:endParaRPr lang="en-US" sz="1180" dirty="0"/>
          </a:p>
        </p:txBody>
      </p:sp>
      <p:sp>
        <p:nvSpPr>
          <p:cNvPr id="46" name="Text 44"/>
          <p:cNvSpPr/>
          <p:nvPr/>
        </p:nvSpPr>
        <p:spPr>
          <a:xfrm>
            <a:off x="8138160" y="3163824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372"/>
                </a:solidFill>
              </a:rPr>
              <a:t>min &lt;= max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72200" y="3602736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7F9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55080" y="369417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B1F28"/>
                </a:solidFill>
              </a:rPr>
              <a:t>Conflito de regra</a:t>
            </a:r>
            <a:endParaRPr lang="en-US" sz="1180" dirty="0"/>
          </a:p>
        </p:txBody>
      </p:sp>
      <p:sp>
        <p:nvSpPr>
          <p:cNvPr id="49" name="Text 47"/>
          <p:cNvSpPr/>
          <p:nvPr/>
        </p:nvSpPr>
        <p:spPr>
          <a:xfrm>
            <a:off x="8138160" y="3755136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372"/>
                </a:solidFill>
              </a:rPr>
              <a:t>mesma condição, resultados diferentes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172200" y="4133088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55080" y="4224528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B1F28"/>
                </a:solidFill>
              </a:rPr>
              <a:t>Cobertura</a:t>
            </a:r>
            <a:endParaRPr lang="en-US" sz="1180" dirty="0"/>
          </a:p>
        </p:txBody>
      </p:sp>
      <p:sp>
        <p:nvSpPr>
          <p:cNvPr id="52" name="Text 50"/>
          <p:cNvSpPr/>
          <p:nvPr/>
        </p:nvSpPr>
        <p:spPr>
          <a:xfrm>
            <a:off x="8138160" y="4265168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372"/>
                </a:solidFill>
              </a:rPr>
              <a:t>toda regra com vigência e evidência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172200" y="4663440"/>
            <a:ext cx="4892040" cy="457200"/>
          </a:xfrm>
          <a:prstGeom prst="roundRect">
            <a:avLst>
              <a:gd name="adj" fmla="val 8000"/>
            </a:avLst>
          </a:prstGeom>
          <a:solidFill>
            <a:srgbClr val="F7F9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55080" y="4754880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80" b="1" dirty="0">
                <a:solidFill>
                  <a:srgbClr val="1B1F28"/>
                </a:solidFill>
              </a:rPr>
              <a:t>Drift documental</a:t>
            </a:r>
            <a:endParaRPr lang="en-US" sz="1180" dirty="0"/>
          </a:p>
        </p:txBody>
      </p:sp>
      <p:sp>
        <p:nvSpPr>
          <p:cNvPr id="55" name="Text 53"/>
          <p:cNvSpPr/>
          <p:nvPr/>
        </p:nvSpPr>
        <p:spPr>
          <a:xfrm>
            <a:off x="8138160" y="4836160"/>
            <a:ext cx="2697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372"/>
                </a:solidFill>
              </a:rPr>
              <a:t>diferença relevante entre versões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172200" y="5349240"/>
            <a:ext cx="4892040" cy="475488"/>
          </a:xfrm>
          <a:prstGeom prst="roundRect">
            <a:avLst>
              <a:gd name="adj" fmla="val 7692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5504688"/>
            <a:ext cx="4526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80" b="1" dirty="0">
                <a:solidFill>
                  <a:srgbClr val="FFFFFF"/>
                </a:solidFill>
              </a:rPr>
              <a:t>Regra de operação recomendada: escrever no banco apenas quando score &gt;= limiar e nenhum validador crítico falhar.</a:t>
            </a:r>
            <a:endParaRPr lang="en-US" sz="1180" dirty="0"/>
          </a:p>
        </p:txBody>
      </p:sp>
      <p:sp>
        <p:nvSpPr>
          <p:cNvPr id="5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Visualizações estratégicas que a base habilita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Não é só extração: é uma camada analítica para comparação, simulação e monitoramento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3794760" cy="452628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1. Comparador de regras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7315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0370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645920" y="2103120"/>
            <a:ext cx="7315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20370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Visa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103120"/>
            <a:ext cx="731520" cy="384048"/>
          </a:xfrm>
          <a:prstGeom prst="rect">
            <a:avLst/>
          </a:prstGeom>
          <a:solidFill>
            <a:srgbClr val="0B1F3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203704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MC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2487168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5877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Superm.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1645920" y="2487168"/>
            <a:ext cx="7315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5877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0,55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2377440" y="2487168"/>
            <a:ext cx="731520" cy="384048"/>
          </a:xfrm>
          <a:prstGeom prst="rect">
            <a:avLst/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587752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0,85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914400" y="2871216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2971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Outros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1645920" y="2871216"/>
            <a:ext cx="7315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45920" y="2971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0,70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2377440" y="2871216"/>
            <a:ext cx="731520" cy="384048"/>
          </a:xfrm>
          <a:prstGeom prst="rect">
            <a:avLst/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0" y="2971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1,05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14400" y="3255264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33558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Aéreo</a:t>
            </a:r>
            <a:endParaRPr lang="en-US" sz="1060" dirty="0"/>
          </a:p>
        </p:txBody>
      </p:sp>
      <p:sp>
        <p:nvSpPr>
          <p:cNvPr id="26" name="Shape 24"/>
          <p:cNvSpPr/>
          <p:nvPr/>
        </p:nvSpPr>
        <p:spPr>
          <a:xfrm>
            <a:off x="1645920" y="3255264"/>
            <a:ext cx="7315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45920" y="33558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0,80</a:t>
            </a:r>
            <a:endParaRPr lang="en-US" sz="1060" dirty="0"/>
          </a:p>
        </p:txBody>
      </p:sp>
      <p:sp>
        <p:nvSpPr>
          <p:cNvPr id="28" name="Shape 26"/>
          <p:cNvSpPr/>
          <p:nvPr/>
        </p:nvSpPr>
        <p:spPr>
          <a:xfrm>
            <a:off x="2377440" y="3255264"/>
            <a:ext cx="731520" cy="384048"/>
          </a:xfrm>
          <a:prstGeom prst="rect">
            <a:avLst/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3355848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0,70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914400" y="3639312"/>
            <a:ext cx="7315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4400" y="373989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Gov.</a:t>
            </a:r>
            <a:endParaRPr lang="en-US" sz="1060" dirty="0"/>
          </a:p>
        </p:txBody>
      </p:sp>
      <p:sp>
        <p:nvSpPr>
          <p:cNvPr id="32" name="Shape 30"/>
          <p:cNvSpPr/>
          <p:nvPr/>
        </p:nvSpPr>
        <p:spPr>
          <a:xfrm>
            <a:off x="1645920" y="3639312"/>
            <a:ext cx="731520" cy="384048"/>
          </a:xfrm>
          <a:prstGeom prst="rect">
            <a:avLst/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645920" y="373989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baixa</a:t>
            </a:r>
            <a:endParaRPr lang="en-US" sz="1060" dirty="0"/>
          </a:p>
        </p:txBody>
      </p:sp>
      <p:sp>
        <p:nvSpPr>
          <p:cNvPr id="34" name="Shape 32"/>
          <p:cNvSpPr/>
          <p:nvPr/>
        </p:nvSpPr>
        <p:spPr>
          <a:xfrm>
            <a:off x="2377440" y="3639312"/>
            <a:ext cx="731520" cy="384048"/>
          </a:xfrm>
          <a:prstGeom prst="rect">
            <a:avLst/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3739896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1B1F28"/>
                </a:solidFill>
              </a:rPr>
              <a:t>0+1,00</a:t>
            </a:r>
            <a:endParaRPr lang="en-US" sz="1060" dirty="0"/>
          </a:p>
        </p:txBody>
      </p:sp>
      <p:sp>
        <p:nvSpPr>
          <p:cNvPr id="36" name="Text 34"/>
          <p:cNvSpPr/>
          <p:nvPr/>
        </p:nvSpPr>
        <p:spPr>
          <a:xfrm>
            <a:off x="914400" y="4160520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5B6372"/>
                </a:solidFill>
              </a:rPr>
              <a:t>Matriz por bandeira x produto x segmento</a:t>
            </a:r>
            <a:endParaRPr lang="en-US" sz="1120" dirty="0"/>
          </a:p>
        </p:txBody>
      </p:sp>
      <p:sp>
        <p:nvSpPr>
          <p:cNvPr id="37" name="Shape 35"/>
          <p:cNvSpPr/>
          <p:nvPr/>
        </p:nvSpPr>
        <p:spPr>
          <a:xfrm>
            <a:off x="4553712" y="1444752"/>
            <a:ext cx="3337560" cy="45262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91456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2. Simulador de impacto</a:t>
            </a:r>
            <a:endParaRPr lang="en-US" sz="1320" dirty="0"/>
          </a:p>
        </p:txBody>
      </p:sp>
      <p:sp>
        <p:nvSpPr>
          <p:cNvPr id="39" name="Text 37"/>
          <p:cNvSpPr/>
          <p:nvPr/>
        </p:nvSpPr>
        <p:spPr>
          <a:xfrm>
            <a:off x="4828032" y="21031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156D9"/>
                </a:solidFill>
              </a:rPr>
              <a:t>Entradas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828032" y="2331720"/>
            <a:ext cx="2743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42316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Bandeira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6172200" y="24231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B1F28"/>
                </a:solidFill>
              </a:rPr>
              <a:t>Visa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4828032" y="2770632"/>
            <a:ext cx="2743200" cy="310896"/>
          </a:xfrm>
          <a:prstGeom prst="roundRect">
            <a:avLst>
              <a:gd name="adj" fmla="val 8824"/>
            </a:avLst>
          </a:prstGeom>
          <a:solidFill>
            <a:srgbClr val="F7F9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56048" y="286207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Produto</a:t>
            </a:r>
            <a:endParaRPr lang="en-US" sz="1060" dirty="0"/>
          </a:p>
        </p:txBody>
      </p:sp>
      <p:sp>
        <p:nvSpPr>
          <p:cNvPr id="45" name="Text 43"/>
          <p:cNvSpPr/>
          <p:nvPr/>
        </p:nvSpPr>
        <p:spPr>
          <a:xfrm>
            <a:off x="6172200" y="2862072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B1F28"/>
                </a:solidFill>
              </a:rPr>
              <a:t>Pré-pago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4828032" y="3209544"/>
            <a:ext cx="2743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56048" y="3300984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Segmento</a:t>
            </a:r>
            <a:endParaRPr lang="en-US" sz="1060" dirty="0"/>
          </a:p>
        </p:txBody>
      </p:sp>
      <p:sp>
        <p:nvSpPr>
          <p:cNvPr id="48" name="Text 46"/>
          <p:cNvSpPr/>
          <p:nvPr/>
        </p:nvSpPr>
        <p:spPr>
          <a:xfrm>
            <a:off x="6172200" y="330098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B1F28"/>
                </a:solidFill>
              </a:rPr>
              <a:t>Supermercado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4828032" y="3648456"/>
            <a:ext cx="2743200" cy="310896"/>
          </a:xfrm>
          <a:prstGeom prst="roundRect">
            <a:avLst>
              <a:gd name="adj" fmla="val 8824"/>
            </a:avLst>
          </a:prstGeom>
          <a:solidFill>
            <a:srgbClr val="F7F9FD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56048" y="3739896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Parcela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6172200" y="3739896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B1F28"/>
                </a:solidFill>
              </a:rPr>
              <a:t>À vista</a:t>
            </a:r>
            <a:endParaRPr lang="en-US" sz="1080" dirty="0"/>
          </a:p>
        </p:txBody>
      </p:sp>
      <p:sp>
        <p:nvSpPr>
          <p:cNvPr id="52" name="Shape 50"/>
          <p:cNvSpPr/>
          <p:nvPr/>
        </p:nvSpPr>
        <p:spPr>
          <a:xfrm>
            <a:off x="4828032" y="4087368"/>
            <a:ext cx="2743200" cy="310896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56048" y="417880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60" dirty="0">
                <a:solidFill>
                  <a:srgbClr val="5B6372"/>
                </a:solidFill>
              </a:rPr>
              <a:t>Valor</a:t>
            </a:r>
            <a:endParaRPr lang="en-US" sz="1060" dirty="0"/>
          </a:p>
        </p:txBody>
      </p:sp>
      <p:sp>
        <p:nvSpPr>
          <p:cNvPr id="54" name="Text 52"/>
          <p:cNvSpPr/>
          <p:nvPr/>
        </p:nvSpPr>
        <p:spPr>
          <a:xfrm>
            <a:off x="6172200" y="4178808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B1F28"/>
                </a:solidFill>
              </a:rPr>
              <a:t>R$ 100</a:t>
            </a:r>
            <a:endParaRPr lang="en-US" sz="1080" dirty="0"/>
          </a:p>
        </p:txBody>
      </p:sp>
      <p:sp>
        <p:nvSpPr>
          <p:cNvPr id="55" name="Shape 53"/>
          <p:cNvSpPr/>
          <p:nvPr/>
        </p:nvSpPr>
        <p:spPr>
          <a:xfrm>
            <a:off x="4983480" y="4690872"/>
            <a:ext cx="2432304" cy="822960"/>
          </a:xfrm>
          <a:prstGeom prst="roundRect">
            <a:avLst>
              <a:gd name="adj" fmla="val 5556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66360" y="48920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Taxa estimada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0,55% = R$ 0,55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8001000" y="1444752"/>
            <a:ext cx="3547872" cy="4526280"/>
          </a:xfrm>
          <a:prstGeom prst="roundRect">
            <a:avLst>
              <a:gd name="adj" fmla="val 2062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229600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3. Monitor de mudança</a:t>
            </a:r>
            <a:endParaRPr lang="en-US" sz="1320" dirty="0"/>
          </a:p>
        </p:txBody>
      </p:sp>
      <p:sp>
        <p:nvSpPr>
          <p:cNvPr id="59" name="Shape 57"/>
          <p:cNvSpPr/>
          <p:nvPr/>
        </p:nvSpPr>
        <p:spPr>
          <a:xfrm>
            <a:off x="8229600" y="2148840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FDEBEC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75904" y="225856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A"/>
                </a:solidFill>
              </a:rPr>
              <a:t>Visa pré-pago</a:t>
            </a:r>
            <a:endParaRPr lang="en-US" sz="1120" dirty="0"/>
          </a:p>
        </p:txBody>
      </p:sp>
      <p:sp>
        <p:nvSpPr>
          <p:cNvPr id="61" name="Text 59"/>
          <p:cNvSpPr/>
          <p:nvPr/>
        </p:nvSpPr>
        <p:spPr>
          <a:xfrm>
            <a:off x="10314432" y="2240280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EB001B"/>
          </a:solidFill>
          <a:ln>
            <a:solidFill>
              <a:srgbClr val="EB001B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CRITICO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8375904" y="2487168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F28"/>
                </a:solidFill>
              </a:rPr>
              <a:t>Supermercados: 1,20% -&gt; 0,55%</a:t>
            </a:r>
            <a:endParaRPr lang="en-US" sz="1080" dirty="0"/>
          </a:p>
        </p:txBody>
      </p:sp>
      <p:sp>
        <p:nvSpPr>
          <p:cNvPr id="63" name="Shape 61"/>
          <p:cNvSpPr/>
          <p:nvPr/>
        </p:nvSpPr>
        <p:spPr>
          <a:xfrm>
            <a:off x="8229600" y="3081528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375904" y="3191256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A"/>
                </a:solidFill>
              </a:rPr>
              <a:t>Mastercard crédito</a:t>
            </a:r>
            <a:endParaRPr lang="en-US" sz="1120" dirty="0"/>
          </a:p>
        </p:txBody>
      </p:sp>
      <p:sp>
        <p:nvSpPr>
          <p:cNvPr id="65" name="Text 63"/>
          <p:cNvSpPr/>
          <p:nvPr/>
        </p:nvSpPr>
        <p:spPr>
          <a:xfrm>
            <a:off x="10314432" y="3172968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2E8B57"/>
          </a:solidFill>
          <a:ln>
            <a:solidFill>
              <a:srgbClr val="2E8B57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OK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8375904" y="3419856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F28"/>
                </a:solidFill>
              </a:rPr>
              <a:t>Black 6+ permaneceu 2,49%</a:t>
            </a:r>
            <a:endParaRPr lang="en-US" sz="1080" dirty="0"/>
          </a:p>
        </p:txBody>
      </p:sp>
      <p:sp>
        <p:nvSpPr>
          <p:cNvPr id="67" name="Shape 65"/>
          <p:cNvSpPr/>
          <p:nvPr/>
        </p:nvSpPr>
        <p:spPr>
          <a:xfrm>
            <a:off x="8229600" y="4014216"/>
            <a:ext cx="3063240" cy="749808"/>
          </a:xfrm>
          <a:prstGeom prst="roundRect">
            <a:avLst>
              <a:gd name="adj" fmla="val 6098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75904" y="4123944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b="1" dirty="0">
                <a:solidFill>
                  <a:srgbClr val="0B1F3A"/>
                </a:solidFill>
              </a:rPr>
              <a:t>Nova versão</a:t>
            </a:r>
            <a:endParaRPr lang="en-US" sz="1120" dirty="0"/>
          </a:p>
        </p:txBody>
      </p:sp>
      <p:sp>
        <p:nvSpPr>
          <p:cNvPr id="69" name="Text 67"/>
          <p:cNvSpPr/>
          <p:nvPr/>
        </p:nvSpPr>
        <p:spPr>
          <a:xfrm>
            <a:off x="10314432" y="4105656"/>
            <a:ext cx="658368" cy="201168"/>
          </a:xfrm>
          <a:prstGeom prst="roundRect">
            <a:avLst>
              <a:gd name="adj" fmla="val 27273"/>
            </a:avLst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REVISAR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375904" y="4352544"/>
            <a:ext cx="2697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dirty="0">
                <a:solidFill>
                  <a:srgbClr val="1B1F28"/>
                </a:solidFill>
              </a:rPr>
              <a:t>documento mudou sem diff manual</a:t>
            </a:r>
            <a:endParaRPr lang="en-US" sz="108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657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5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Recomendações técnicas e roadmap de evolução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594360" y="987552"/>
            <a:ext cx="10332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3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Plano enxuto para sair de POC para operação</a:t>
            </a:r>
            <a:endParaRPr lang="en-US" sz="1130" dirty="0"/>
          </a:p>
        </p:txBody>
      </p:sp>
      <p:sp>
        <p:nvSpPr>
          <p:cNvPr id="4" name="Shape 2"/>
          <p:cNvSpPr/>
          <p:nvPr/>
        </p:nvSpPr>
        <p:spPr>
          <a:xfrm>
            <a:off x="658368" y="1444752"/>
            <a:ext cx="74523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Roadmap 90 dias</a:t>
            </a:r>
            <a:endParaRPr lang="en-US" sz="132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2057400" cy="3200400"/>
          </a:xfrm>
          <a:prstGeom prst="roundRect">
            <a:avLst>
              <a:gd name="adj" fmla="val 2222"/>
            </a:avLst>
          </a:prstGeom>
          <a:solidFill>
            <a:srgbClr val="EAF0FF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2395728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2156D9"/>
          </a:solidFill>
          <a:ln>
            <a:solidFill>
              <a:srgbClr val="2156D9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0-30 dias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78992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POC controlada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8992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8"/>
                </a:solidFill>
              </a:rPr>
              <a:t>Ingestão versionada, parser de tabelas, schema canônico e revisão humana nos casos críticos.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91840" y="2194560"/>
            <a:ext cx="2057400" cy="3200400"/>
          </a:xfrm>
          <a:prstGeom prst="roundRect">
            <a:avLst>
              <a:gd name="adj" fmla="val 2222"/>
            </a:avLst>
          </a:prstGeom>
          <a:solidFill>
            <a:srgbClr val="FFF2E5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56432" y="2395728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FF8A00"/>
          </a:solidFill>
          <a:ln>
            <a:solidFill>
              <a:srgbClr val="FF8A00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31-60 dias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56432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MVP interno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56432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8"/>
                </a:solidFill>
              </a:rPr>
              <a:t>Validações automáticas, API de consulta, diff entre versões e dashboard comparativo.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669280" y="2194560"/>
            <a:ext cx="2057400" cy="3200400"/>
          </a:xfrm>
          <a:prstGeom prst="roundRect">
            <a:avLst>
              <a:gd name="adj" fmla="val 2222"/>
            </a:avLst>
          </a:prstGeom>
          <a:solidFill>
            <a:srgbClr val="E8F7F7"/>
          </a:solidFill>
          <a:ln w="12700">
            <a:solidFill>
              <a:srgbClr val="D7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33872" y="2395728"/>
            <a:ext cx="868680" cy="228600"/>
          </a:xfrm>
          <a:prstGeom prst="roundRect">
            <a:avLst>
              <a:gd name="adj" fmla="val 24000"/>
            </a:avLst>
          </a:prstGeom>
          <a:solidFill>
            <a:srgbClr val="16A4A8"/>
          </a:solidFill>
          <a:ln>
            <a:solidFill>
              <a:srgbClr val="16A4A8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61-90 dias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33872" y="272491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A"/>
                </a:solidFill>
              </a:rPr>
              <a:t>Escala operacional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33872" y="3063240"/>
            <a:ext cx="17373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1F28"/>
                </a:solidFill>
              </a:rPr>
              <a:t>Fila humana por score, observabilidade, reprocessamento e agente consultivo conectado à base.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75320" y="1444752"/>
            <a:ext cx="3246120" cy="4572000"/>
          </a:xfrm>
          <a:prstGeom prst="roundRect">
            <a:avLst>
              <a:gd name="adj" fmla="val 2254"/>
            </a:avLst>
          </a:prstGeom>
          <a:solidFill>
            <a:srgbClr val="FBFCFF"/>
          </a:solidFill>
          <a:ln w="12700">
            <a:solidFill>
              <a:srgbClr val="D7DDE8"/>
            </a:solidFill>
            <a:prstDash val="solid"/>
          </a:ln>
          <a:effectLst>
            <a:outerShdw blurRad="19050" dist="63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22208" y="17007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B1F3A"/>
                </a:solidFill>
              </a:rPr>
              <a:t>Recomendações finais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85632" y="2011680"/>
            <a:ext cx="2651760" cy="3200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marL="152210" indent="-152210">
              <a:buSzPct val="100000"/>
              <a:buChar char="•"/>
            </a:pPr>
            <a:r>
              <a:rPr lang="en-US" sz="141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Versionar documentos e regras como first-class entities.</a:t>
            </a:r>
            <a:endParaRPr lang="en-US" sz="1410" dirty="0"/>
          </a:p>
          <a:p>
            <a:pPr marL="152210" indent="-152210">
              <a:buSzPct val="100000"/>
              <a:buChar char="•"/>
            </a:pPr>
            <a:r>
              <a:rPr lang="en-US" sz="141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tarifa base, ajuste e exceção em entidades distintas.</a:t>
            </a:r>
            <a:endParaRPr lang="en-US" sz="1410" dirty="0"/>
          </a:p>
          <a:p>
            <a:pPr marL="152210" indent="-152210">
              <a:buSzPct val="100000"/>
              <a:buChar char="•"/>
            </a:pPr>
            <a:r>
              <a:rPr lang="en-US" sz="141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Exigir evidência por página/trecho para toda regra publicada.</a:t>
            </a:r>
            <a:endParaRPr lang="en-US" sz="1410" dirty="0"/>
          </a:p>
          <a:p>
            <a:pPr marL="152210" indent="-152210">
              <a:buSzPct val="100000"/>
              <a:buChar char="•"/>
            </a:pPr>
            <a:r>
              <a:rPr lang="en-US" sz="141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humano no loop apenas para conflito, não para volume.</a:t>
            </a:r>
            <a:endParaRPr lang="en-US" sz="1410" dirty="0"/>
          </a:p>
          <a:p>
            <a:pPr marL="152210" indent="-152210">
              <a:buSzPct val="100000"/>
              <a:buChar char="•"/>
            </a:pPr>
            <a:r>
              <a:rPr lang="en-US" sz="1410" dirty="0">
                <a:solidFill>
                  <a:srgbClr val="1B1F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precisão por campo, não só por documento.</a:t>
            </a:r>
            <a:endParaRPr lang="en-US" sz="1410" dirty="0"/>
          </a:p>
        </p:txBody>
      </p:sp>
      <p:sp>
        <p:nvSpPr>
          <p:cNvPr id="21" name="Shape 19"/>
          <p:cNvSpPr/>
          <p:nvPr/>
        </p:nvSpPr>
        <p:spPr>
          <a:xfrm>
            <a:off x="8522208" y="5230368"/>
            <a:ext cx="269748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05088" y="5376672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Entrega alinhada aos 4 objetivos do case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501384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94F"/>
                </a:solidFill>
                <a:latin typeface="Aptos Display"/>
              </a:rPr>
              <a:t>Apêndice técnico | Fontes, rastreabilidade e defesa da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33402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 dirty="0">
                <a:solidFill>
                  <a:srgbClr val="6B7280"/>
                </a:solidFill>
                <a:latin typeface="Aptos"/>
              </a:rPr>
              <a:t>Material de </a:t>
            </a:r>
            <a:r>
              <a:rPr sz="1100" b="1" dirty="0" err="1" smtClean="0">
                <a:solidFill>
                  <a:srgbClr val="6B7280"/>
                </a:solidFill>
                <a:latin typeface="Aptos"/>
              </a:rPr>
              <a:t>apoio</a:t>
            </a:r>
            <a:endParaRPr sz="1100" b="1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097280"/>
            <a:ext cx="3703320" cy="34295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lang="pt-BR" sz="2000" b="1" dirty="0" smtClean="0">
                <a:solidFill>
                  <a:srgbClr val="2759A5"/>
                </a:solidFill>
                <a:latin typeface="Aptos"/>
              </a:rPr>
              <a:t>E</a:t>
            </a:r>
            <a:r>
              <a:rPr sz="2000" b="1" dirty="0" err="1" smtClean="0">
                <a:solidFill>
                  <a:srgbClr val="2759A5"/>
                </a:solidFill>
                <a:latin typeface="Aptos"/>
              </a:rPr>
              <a:t>xplicita</a:t>
            </a:r>
            <a:r>
              <a:rPr lang="pt-BR" sz="2000" b="1" dirty="0" err="1" smtClean="0">
                <a:solidFill>
                  <a:srgbClr val="2759A5"/>
                </a:solidFill>
                <a:latin typeface="Aptos"/>
              </a:rPr>
              <a:t>ndo</a:t>
            </a:r>
            <a:r>
              <a:rPr sz="2000" b="1" dirty="0" smtClean="0">
                <a:solidFill>
                  <a:srgbClr val="2759A5"/>
                </a:solidFill>
                <a:latin typeface="Aptos"/>
              </a:rPr>
              <a:t> </a:t>
            </a:r>
            <a:r>
              <a:rPr sz="2000" b="1" dirty="0">
                <a:solidFill>
                  <a:srgbClr val="2759A5"/>
                </a:solidFill>
                <a:latin typeface="Aptos"/>
              </a:rPr>
              <a:t>as </a:t>
            </a:r>
            <a:r>
              <a:rPr sz="2000" b="1" dirty="0" err="1">
                <a:solidFill>
                  <a:srgbClr val="2759A5"/>
                </a:solidFill>
                <a:latin typeface="Aptos"/>
              </a:rPr>
              <a:t>fontes</a:t>
            </a:r>
            <a:r>
              <a:rPr sz="2000" b="1" dirty="0">
                <a:solidFill>
                  <a:srgbClr val="2759A5"/>
                </a:solidFill>
                <a:latin typeface="Aptos"/>
              </a:rPr>
              <a:t> </a:t>
            </a:r>
            <a:r>
              <a:rPr sz="2000" b="1" dirty="0" err="1" smtClean="0">
                <a:solidFill>
                  <a:srgbClr val="2759A5"/>
                </a:solidFill>
                <a:latin typeface="Aptos"/>
              </a:rPr>
              <a:t>oficiais</a:t>
            </a:r>
            <a:endParaRPr sz="2000" b="1" dirty="0" smtClean="0">
              <a:solidFill>
                <a:srgbClr val="2759A5"/>
              </a:solidFill>
              <a:latin typeface="Aptos"/>
            </a:endParaRP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A análise foi ancorada em documentos públicos das próprias bandeiras.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Mostra preocupação com proveniência, auditoria e reprodutibilidade.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Diferencia dado oficial de hipótese analítica ou interpretação do pipeline.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Reduz a percepção de que a solução foi construída com números arbitrários.</a:t>
            </a:r>
            <a:endParaRPr lang="pt-BR" sz="1400" dirty="0"/>
          </a:p>
        </p:txBody>
      </p:sp>
      <p:sp>
        <p:nvSpPr>
          <p:cNvPr id="6" name="Rounded Rectangle 5"/>
          <p:cNvSpPr/>
          <p:nvPr/>
        </p:nvSpPr>
        <p:spPr>
          <a:xfrm>
            <a:off x="4251959" y="1097280"/>
            <a:ext cx="4074159" cy="34295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lang="pt-BR" b="1" dirty="0" smtClean="0">
                <a:solidFill>
                  <a:srgbClr val="0092B0"/>
                </a:solidFill>
                <a:latin typeface="Aptos"/>
              </a:rPr>
              <a:t>Por que?</a:t>
            </a:r>
            <a:endParaRPr b="1" dirty="0">
              <a:solidFill>
                <a:srgbClr val="0092B0"/>
              </a:solidFill>
              <a:latin typeface="Aptos"/>
            </a:endParaRP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“Para a análise exploratória, usei documentos públicos e regulatórios das próprias bandeiras como ponto de partida. A proposta técnica foi desenhada para funcionar também com versões internas e futuras revisões, desde que a empresa tenha acesso legítimo.”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endParaRPr lang="pt-BR" sz="1400" dirty="0" smtClean="0"/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“Por isso a solução salva regra, versão, página e evidência do trecho, permitindo rastrear de onde saiu cada taxa ou ajuste.”</a:t>
            </a:r>
            <a:endParaRPr lang="pt-BR" sz="1400" dirty="0"/>
          </a:p>
        </p:txBody>
      </p:sp>
      <p:sp>
        <p:nvSpPr>
          <p:cNvPr id="7" name="Rounded Rectangle 6"/>
          <p:cNvSpPr/>
          <p:nvPr/>
        </p:nvSpPr>
        <p:spPr>
          <a:xfrm>
            <a:off x="8326118" y="1097280"/>
            <a:ext cx="3743961" cy="342951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b="1" dirty="0" err="1" smtClean="0">
                <a:solidFill>
                  <a:srgbClr val="F29500"/>
                </a:solidFill>
                <a:latin typeface="Aptos"/>
              </a:rPr>
              <a:t>Cuidados</a:t>
            </a:r>
            <a:endParaRPr lang="pt-BR" b="1" dirty="0" smtClean="0">
              <a:solidFill>
                <a:srgbClr val="F29500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endParaRPr b="1" dirty="0">
              <a:solidFill>
                <a:srgbClr val="F29500"/>
              </a:solidFill>
              <a:latin typeface="Aptos"/>
            </a:endParaRP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Dizer “usei fontes oficiais públicas disponíveis nos sites das bandeiras”.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Não implica que toda a malha tarifária pública é completa.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Separar claramente: fato observado no documento x inferência da solução.</a:t>
            </a:r>
          </a:p>
          <a:p>
            <a:pPr algn="just"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lang="pt-BR" sz="1400" dirty="0" smtClean="0"/>
              <a:t>Em conflito entre versões, vale a lógica </a:t>
            </a:r>
            <a:r>
              <a:rPr lang="pt-BR" sz="1400" dirty="0" err="1" smtClean="0"/>
              <a:t>versionada</a:t>
            </a:r>
            <a:r>
              <a:rPr lang="pt-BR" sz="1400" dirty="0" smtClean="0"/>
              <a:t> do pipeline.</a:t>
            </a:r>
            <a:endParaRPr lang="pt-BR" sz="1400" dirty="0"/>
          </a:p>
        </p:txBody>
      </p:sp>
      <p:sp>
        <p:nvSpPr>
          <p:cNvPr id="8" name="Rounded Rectangle 7"/>
          <p:cNvSpPr/>
          <p:nvPr/>
        </p:nvSpPr>
        <p:spPr>
          <a:xfrm>
            <a:off x="426720" y="4788408"/>
            <a:ext cx="11338560" cy="1234440"/>
          </a:xfrm>
          <a:prstGeom prst="roundRect">
            <a:avLst/>
          </a:prstGeom>
          <a:solidFill>
            <a:srgbClr val="0E1726"/>
          </a:solidFill>
          <a:ln w="1270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sz="1300" b="1" dirty="0" err="1">
                <a:solidFill>
                  <a:srgbClr val="FFFFFF"/>
                </a:solidFill>
                <a:latin typeface="Aptos"/>
              </a:rPr>
              <a:t>Mensagem-chave</a:t>
            </a:r>
            <a:r>
              <a:rPr sz="1300" b="1" dirty="0">
                <a:solidFill>
                  <a:srgbClr val="FFFFFF"/>
                </a:solidFill>
                <a:latin typeface="Aptos"/>
              </a:rPr>
              <a:t> </a:t>
            </a:r>
            <a:endParaRPr lang="pt-BR" sz="1300" b="1" dirty="0" smtClean="0">
              <a:solidFill>
                <a:srgbClr val="FFFFFF"/>
              </a:solidFill>
              <a:latin typeface="Aptos"/>
            </a:endParaRPr>
          </a:p>
          <a:p>
            <a:pPr algn="ctr">
              <a:spcAft>
                <a:spcPts val="500"/>
              </a:spcAft>
            </a:pPr>
            <a:r>
              <a:rPr lang="pt-BR" sz="1400" dirty="0" smtClean="0"/>
              <a:t>A apresentação não depende de “prints soltos”: ela parte de fontes oficiais, extrai evidências localizáveis e transforma o conteúdo em regras versionadas, consultáveis e auditáveis.</a:t>
            </a:r>
          </a:p>
          <a:p>
            <a:pPr>
              <a:spcAft>
                <a:spcPts val="150"/>
              </a:spcAft>
              <a:defRPr sz="1100">
                <a:solidFill>
                  <a:srgbClr val="FFFFFF"/>
                </a:solidFill>
                <a:latin typeface="Aptos"/>
              </a:defRPr>
            </a:pPr>
            <a:endParaRPr lang="pt-BR" sz="1400" dirty="0" smtClean="0"/>
          </a:p>
          <a:p>
            <a:pPr algn="ctr">
              <a:spcAft>
                <a:spcPts val="150"/>
              </a:spcAft>
              <a:defRPr sz="1100">
                <a:solidFill>
                  <a:srgbClr val="FFFFFF"/>
                </a:solidFill>
                <a:latin typeface="Aptos"/>
              </a:defRPr>
            </a:pPr>
            <a:r>
              <a:rPr lang="pt-BR" sz="1400" dirty="0" smtClean="0"/>
              <a:t>Isso diferencia um experimento de OCR de uma solução de produto orientada a decisão.</a:t>
            </a:r>
            <a:endParaRPr lang="pt-BR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164592"/>
          </a:xfrm>
          <a:prstGeom prst="rect">
            <a:avLst/>
          </a:prstGeom>
          <a:solidFill>
            <a:srgbClr val="0F29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292608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F294F"/>
                </a:solidFill>
                <a:latin typeface="Aptos Display"/>
              </a:rPr>
              <a:t>Apêndice técnico | Pseudocódigo do pipeline proposto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644642"/>
            <a:ext cx="556755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dirty="0" err="1">
                <a:solidFill>
                  <a:srgbClr val="6B7280"/>
                </a:solidFill>
                <a:latin typeface="Aptos"/>
              </a:rPr>
              <a:t>Exemplo</a:t>
            </a:r>
            <a:r>
              <a:rPr sz="1100" dirty="0">
                <a:solidFill>
                  <a:srgbClr val="6B7280"/>
                </a:solidFill>
                <a:latin typeface="Aptos"/>
              </a:rPr>
              <a:t> de </a:t>
            </a:r>
            <a:r>
              <a:rPr sz="1100" dirty="0" err="1">
                <a:solidFill>
                  <a:srgbClr val="6B7280"/>
                </a:solidFill>
                <a:latin typeface="Aptos"/>
              </a:rPr>
              <a:t>algoritmo</a:t>
            </a:r>
            <a:r>
              <a:rPr sz="1100" dirty="0">
                <a:solidFill>
                  <a:srgbClr val="6B7280"/>
                </a:solidFill>
                <a:latin typeface="Aptos"/>
              </a:rPr>
              <a:t> de alto </a:t>
            </a:r>
            <a:r>
              <a:rPr sz="1100" dirty="0" err="1">
                <a:solidFill>
                  <a:srgbClr val="6B7280"/>
                </a:solidFill>
                <a:latin typeface="Aptos"/>
              </a:rPr>
              <a:t>nível</a:t>
            </a:r>
            <a:r>
              <a:rPr sz="1100" dirty="0">
                <a:solidFill>
                  <a:srgbClr val="6B7280"/>
                </a:solidFill>
                <a:latin typeface="Aptos"/>
              </a:rPr>
              <a:t> para </a:t>
            </a:r>
            <a:r>
              <a:rPr sz="1100" dirty="0" err="1">
                <a:solidFill>
                  <a:srgbClr val="6B7280"/>
                </a:solidFill>
                <a:latin typeface="Aptos"/>
              </a:rPr>
              <a:t>demonstrar</a:t>
            </a:r>
            <a:r>
              <a:rPr sz="1100" dirty="0">
                <a:solidFill>
                  <a:srgbClr val="6B7280"/>
                </a:solidFill>
                <a:latin typeface="Aptos"/>
              </a:rPr>
              <a:t> </a:t>
            </a:r>
            <a:r>
              <a:rPr sz="1100" dirty="0" err="1">
                <a:solidFill>
                  <a:srgbClr val="6B7280"/>
                </a:solidFill>
                <a:latin typeface="Aptos"/>
              </a:rPr>
              <a:t>implementabilidade</a:t>
            </a:r>
            <a:r>
              <a:rPr sz="1100" dirty="0">
                <a:solidFill>
                  <a:srgbClr val="6B7280"/>
                </a:solidFill>
                <a:latin typeface="Aptos"/>
              </a:rPr>
              <a:t> e </a:t>
            </a:r>
            <a:r>
              <a:rPr sz="1100" dirty="0" err="1">
                <a:solidFill>
                  <a:srgbClr val="6B7280"/>
                </a:solidFill>
                <a:latin typeface="Aptos"/>
              </a:rPr>
              <a:t>governança</a:t>
            </a:r>
            <a:endParaRPr sz="1100" dirty="0">
              <a:solidFill>
                <a:srgbClr val="6B7280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11480" y="1051560"/>
            <a:ext cx="6995160" cy="5303520"/>
          </a:xfrm>
          <a:prstGeom prst="roundRect">
            <a:avLst/>
          </a:prstGeom>
          <a:solidFill>
            <a:srgbClr val="0E1726"/>
          </a:solidFill>
          <a:ln w="1270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Pseudocódigo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for doc in docs: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pages = render(doc)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blocks = parse_layout(pages)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chunks = split_sections(blocks)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for chunk in chunks: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kind = classify(chunk)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rows = extract_rules(chunk, kind)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for row in rows: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rule = normalize(row)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proof = attach_evidence(doc, chunk)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score = validate(rule)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if score &gt;= MIN_SCORE and not has_conflict(rule):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  save(rule, proof)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else: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        queue_review(rule, proof)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endParaRPr/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generate_version_diff()</a:t>
            </a:r>
          </a:p>
          <a:p>
            <a:pPr>
              <a:spcAft>
                <a:spcPts val="150"/>
              </a:spcAft>
              <a:defRPr sz="1300">
                <a:solidFill>
                  <a:srgbClr val="FFFFFF"/>
                </a:solidFill>
                <a:latin typeface="Aptos"/>
              </a:defRPr>
            </a:pPr>
            <a:r>
              <a:t>publish_api_and_dashboard()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1051560"/>
            <a:ext cx="4160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b="1">
                <a:solidFill>
                  <a:srgbClr val="0092B0"/>
                </a:solidFill>
                <a:latin typeface="Aptos"/>
              </a:rPr>
              <a:t>Leitura passo a passo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/>
              <a:t>Renderiza páginas e preserva estrutura visual.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/>
              <a:t>Extrai texto, tabela e contexto de layout.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/>
              <a:t>Classifica o chunk antes de extrair.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/>
              <a:t>Normaliza a regra para um schema canônico.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/>
              <a:t>Valida antes de gravar.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/>
              <a:t>Escala com revisão humana só nos casos ambíguos.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3657600"/>
            <a:ext cx="416052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DF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lang="pt-BR" b="1" dirty="0" smtClean="0">
                <a:solidFill>
                  <a:srgbClr val="F29500"/>
                </a:solidFill>
                <a:latin typeface="Aptos"/>
              </a:rPr>
              <a:t>Defesa </a:t>
            </a:r>
            <a:r>
              <a:rPr b="1" dirty="0" err="1" smtClean="0">
                <a:solidFill>
                  <a:srgbClr val="F29500"/>
                </a:solidFill>
                <a:latin typeface="Aptos"/>
              </a:rPr>
              <a:t>tecnica</a:t>
            </a:r>
            <a:endParaRPr b="1" dirty="0">
              <a:solidFill>
                <a:srgbClr val="F29500"/>
              </a:solidFill>
              <a:latin typeface="Aptos"/>
            </a:endParaRP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 dirty="0"/>
              <a:t>O LLM </a:t>
            </a:r>
            <a:r>
              <a:rPr sz="1400" b="1" dirty="0" err="1"/>
              <a:t>não</a:t>
            </a:r>
            <a:r>
              <a:rPr sz="1400" b="1" dirty="0"/>
              <a:t> </a:t>
            </a:r>
            <a:r>
              <a:rPr sz="1400" b="1" dirty="0" err="1"/>
              <a:t>escreve</a:t>
            </a:r>
            <a:r>
              <a:rPr sz="1400" b="1" dirty="0"/>
              <a:t> </a:t>
            </a:r>
            <a:r>
              <a:rPr sz="1400" b="1" dirty="0" err="1"/>
              <a:t>direto</a:t>
            </a:r>
            <a:r>
              <a:rPr sz="1400" b="1" dirty="0"/>
              <a:t> no banco: </a:t>
            </a:r>
            <a:r>
              <a:rPr sz="1400" b="1" dirty="0" err="1"/>
              <a:t>ele</a:t>
            </a:r>
            <a:r>
              <a:rPr sz="1400" b="1" dirty="0"/>
              <a:t> </a:t>
            </a:r>
            <a:r>
              <a:rPr sz="1400" b="1" dirty="0" err="1"/>
              <a:t>propõe</a:t>
            </a:r>
            <a:r>
              <a:rPr sz="1400" b="1" dirty="0"/>
              <a:t> </a:t>
            </a:r>
            <a:r>
              <a:rPr sz="1400" b="1" dirty="0" err="1"/>
              <a:t>candidatos</a:t>
            </a:r>
            <a:r>
              <a:rPr sz="1400" b="1" dirty="0"/>
              <a:t>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 dirty="0"/>
              <a:t>A </a:t>
            </a:r>
            <a:r>
              <a:rPr sz="1400" b="1" dirty="0" err="1"/>
              <a:t>persistência</a:t>
            </a:r>
            <a:r>
              <a:rPr sz="1400" b="1" dirty="0"/>
              <a:t> </a:t>
            </a:r>
            <a:r>
              <a:rPr sz="1400" b="1" dirty="0" err="1"/>
              <a:t>depende</a:t>
            </a:r>
            <a:r>
              <a:rPr sz="1400" b="1" dirty="0"/>
              <a:t> de </a:t>
            </a:r>
            <a:r>
              <a:rPr sz="1400" b="1" dirty="0" err="1"/>
              <a:t>regras</a:t>
            </a:r>
            <a:r>
              <a:rPr sz="1400" b="1" dirty="0"/>
              <a:t> de </a:t>
            </a:r>
            <a:r>
              <a:rPr sz="1400" b="1" dirty="0" err="1"/>
              <a:t>validação</a:t>
            </a:r>
            <a:r>
              <a:rPr sz="1400" b="1" dirty="0"/>
              <a:t> e score </a:t>
            </a:r>
            <a:r>
              <a:rPr sz="1400" b="1" dirty="0" err="1"/>
              <a:t>mínimo</a:t>
            </a:r>
            <a:r>
              <a:rPr sz="1400" b="1" dirty="0"/>
              <a:t>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 dirty="0"/>
              <a:t>Toda </a:t>
            </a:r>
            <a:r>
              <a:rPr sz="1400" b="1" dirty="0" err="1"/>
              <a:t>regra</a:t>
            </a:r>
            <a:r>
              <a:rPr sz="1400" b="1" dirty="0"/>
              <a:t> </a:t>
            </a:r>
            <a:r>
              <a:rPr sz="1400" b="1" dirty="0" err="1"/>
              <a:t>salva</a:t>
            </a:r>
            <a:r>
              <a:rPr sz="1400" b="1" dirty="0"/>
              <a:t> leva </a:t>
            </a:r>
            <a:r>
              <a:rPr sz="1400" b="1" dirty="0" err="1"/>
              <a:t>documento</a:t>
            </a:r>
            <a:r>
              <a:rPr sz="1400" b="1" dirty="0"/>
              <a:t>, </a:t>
            </a:r>
            <a:r>
              <a:rPr sz="1400" b="1" dirty="0" err="1"/>
              <a:t>página</a:t>
            </a:r>
            <a:r>
              <a:rPr sz="1400" b="1" dirty="0"/>
              <a:t> e </a:t>
            </a:r>
            <a:r>
              <a:rPr sz="1400" b="1" dirty="0" err="1"/>
              <a:t>trecho</a:t>
            </a:r>
            <a:r>
              <a:rPr sz="1400" b="1" dirty="0"/>
              <a:t> de </a:t>
            </a:r>
            <a:r>
              <a:rPr sz="1400" b="1" dirty="0" err="1"/>
              <a:t>evidência</a:t>
            </a:r>
            <a:r>
              <a:rPr sz="1400" b="1" dirty="0"/>
              <a:t>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 dirty="0"/>
              <a:t>O diff entre </a:t>
            </a:r>
            <a:r>
              <a:rPr sz="1400" b="1" dirty="0" err="1"/>
              <a:t>versões</a:t>
            </a:r>
            <a:r>
              <a:rPr sz="1400" b="1" dirty="0"/>
              <a:t> </a:t>
            </a:r>
            <a:r>
              <a:rPr sz="1400" b="1" dirty="0" err="1"/>
              <a:t>permite</a:t>
            </a:r>
            <a:r>
              <a:rPr sz="1400" b="1" dirty="0"/>
              <a:t> </a:t>
            </a:r>
            <a:r>
              <a:rPr sz="1400" b="1" dirty="0" err="1"/>
              <a:t>governança</a:t>
            </a:r>
            <a:r>
              <a:rPr sz="1400" b="1" dirty="0"/>
              <a:t> e </a:t>
            </a:r>
            <a:r>
              <a:rPr sz="1400" b="1" dirty="0" err="1"/>
              <a:t>impacto</a:t>
            </a:r>
            <a:r>
              <a:rPr sz="1400" b="1" dirty="0"/>
              <a:t> </a:t>
            </a:r>
            <a:r>
              <a:rPr sz="1400" b="1" dirty="0" err="1"/>
              <a:t>financeiro</a:t>
            </a:r>
            <a:r>
              <a:rPr sz="1400" b="1" dirty="0"/>
              <a:t>.</a:t>
            </a:r>
          </a:p>
          <a:p>
            <a:pPr>
              <a:spcAft>
                <a:spcPts val="150"/>
              </a:spcAft>
              <a:defRPr sz="1050">
                <a:solidFill>
                  <a:srgbClr val="1F2937"/>
                </a:solidFill>
                <a:latin typeface="Aptos"/>
              </a:defRPr>
            </a:pPr>
            <a:r>
              <a:rPr sz="1400" b="1" dirty="0"/>
              <a:t>A </a:t>
            </a:r>
            <a:r>
              <a:rPr sz="1400" b="1" dirty="0" err="1"/>
              <a:t>solução</a:t>
            </a:r>
            <a:r>
              <a:rPr sz="1400" b="1" dirty="0"/>
              <a:t> é </a:t>
            </a:r>
            <a:r>
              <a:rPr sz="1400" b="1" dirty="0" err="1"/>
              <a:t>extensível</a:t>
            </a:r>
            <a:r>
              <a:rPr sz="1400" b="1" dirty="0"/>
              <a:t> para </a:t>
            </a:r>
            <a:r>
              <a:rPr sz="1400" b="1" dirty="0" err="1"/>
              <a:t>novas</a:t>
            </a:r>
            <a:r>
              <a:rPr sz="1400" b="1" dirty="0"/>
              <a:t> </a:t>
            </a:r>
            <a:r>
              <a:rPr sz="1400" b="1" dirty="0" err="1"/>
              <a:t>bandeiras</a:t>
            </a:r>
            <a:r>
              <a:rPr sz="1400" b="1" dirty="0"/>
              <a:t> e </a:t>
            </a:r>
            <a:r>
              <a:rPr sz="1400" b="1" dirty="0" err="1"/>
              <a:t>novos</a:t>
            </a:r>
            <a:r>
              <a:rPr sz="1400" b="1" dirty="0"/>
              <a:t> layouts.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4"/>
          <p:cNvSpPr/>
          <p:nvPr/>
        </p:nvSpPr>
        <p:spPr>
          <a:xfrm>
            <a:off x="3032760" y="767080"/>
            <a:ext cx="6995160" cy="5303520"/>
          </a:xfrm>
          <a:prstGeom prst="roundRect">
            <a:avLst/>
          </a:prstGeom>
          <a:solidFill>
            <a:srgbClr val="0E1726"/>
          </a:solidFill>
          <a:ln w="12700">
            <a:solidFill>
              <a:srgbClr val="0E17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127000" rIns="127000" bIns="101600" rtlCol="0" anchor="ctr"/>
          <a:lstStyle/>
          <a:p>
            <a:pPr algn="ctr">
              <a:spcAft>
                <a:spcPts val="500"/>
              </a:spcAft>
            </a:pPr>
            <a:r>
              <a:rPr lang="pt-BR" sz="4000" b="1" dirty="0" smtClean="0">
                <a:solidFill>
                  <a:srgbClr val="FFFFFF"/>
                </a:solidFill>
                <a:latin typeface="Aptos"/>
              </a:rPr>
              <a:t>Obrigado!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2493902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544</TotalTime>
  <Words>2206</Words>
  <Application>Microsoft Office PowerPoint</Application>
  <PresentationFormat>Widescreen</PresentationFormat>
  <Paragraphs>443</Paragraphs>
  <Slides>14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14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OpenAI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Pipeline de IA para Regras de Intercâmbio</dc:title>
  <dc:subject>Desafio técnico - Pipeline de IA para intercâmbio Visa e Mastercard</dc:subject>
  <dc:creator>OpenAI</dc:creator>
  <cp:lastModifiedBy>Gustavo Prado Oliveira</cp:lastModifiedBy>
  <cp:revision>12</cp:revision>
  <dcterms:created xsi:type="dcterms:W3CDTF">2026-03-26T00:04:00Z</dcterms:created>
  <dcterms:modified xsi:type="dcterms:W3CDTF">2026-03-26T20:57:49Z</dcterms:modified>
</cp:coreProperties>
</file>